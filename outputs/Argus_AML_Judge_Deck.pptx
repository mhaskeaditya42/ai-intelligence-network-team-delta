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35e0d62c454d72" /><Relationship Type="http://schemas.openxmlformats.org/officeDocument/2006/relationships/extended-properties" Target="/docProps/app.xml" Id="R9f49969246ed44a8" /><Relationship Type="http://schemas.openxmlformats.org/officeDocument/2006/relationships/officeDocument" Target="/ppt/presentation.xml" Id="Rcc13557895fd4d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423d0d109b4e49"/>
  </p:sldMasterIdLst>
  <p:notesMasterIdLst>
    <p:notesMasterId xmlns:r="http://schemas.openxmlformats.org/officeDocument/2006/relationships" r:id="R09f986e67bd441b6"/>
  </p:notesMasterIdLst>
  <p:sldIdLst>
    <p:sldId xmlns:r="http://schemas.openxmlformats.org/officeDocument/2006/relationships" id="256" r:id="R8b340f472baa4f96"/>
    <p:sldId xmlns:r="http://schemas.openxmlformats.org/officeDocument/2006/relationships" id="257" r:id="Rf18e2f87bae048ff"/>
    <p:sldId xmlns:r="http://schemas.openxmlformats.org/officeDocument/2006/relationships" id="258" r:id="Rf4e50929f31f4189"/>
    <p:sldId xmlns:r="http://schemas.openxmlformats.org/officeDocument/2006/relationships" id="259" r:id="Rc1671b138e054e49"/>
    <p:sldId xmlns:r="http://schemas.openxmlformats.org/officeDocument/2006/relationships" id="260" r:id="Re009080c6eee4074"/>
    <p:sldId xmlns:r="http://schemas.openxmlformats.org/officeDocument/2006/relationships" id="261" r:id="R4594cf3203994cfa"/>
    <p:sldId xmlns:r="http://schemas.openxmlformats.org/officeDocument/2006/relationships" id="262" r:id="R48a4d99e875842f6"/>
    <p:sldId xmlns:r="http://schemas.openxmlformats.org/officeDocument/2006/relationships" id="263" r:id="R55348d9e17b242e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ad618deb2d429c" /><Relationship Type="http://schemas.openxmlformats.org/officeDocument/2006/relationships/slideMaster" Target="/ppt/slideMasters/slideMaster1.xml" Id="R8a423d0d109b4e49" /><Relationship Type="http://schemas.openxmlformats.org/officeDocument/2006/relationships/notesMaster" Target="/ppt/notesMasters/notesMaster1.xml" Id="R09f986e67bd441b6" /><Relationship Type="http://schemas.openxmlformats.org/officeDocument/2006/relationships/presProps" Target="/ppt/presProps.xml" Id="Rafdd033961bd47d2" /><Relationship Type="http://schemas.openxmlformats.org/officeDocument/2006/relationships/tableStyles" Target="/ppt/tableStyles.xml" Id="R23f1b86328fe44ab" /><Relationship Type="http://schemas.openxmlformats.org/officeDocument/2006/relationships/slide" Target="/ppt/slides/slide1.xml" Id="R8b340f472baa4f96" /><Relationship Type="http://schemas.openxmlformats.org/officeDocument/2006/relationships/slide" Target="/ppt/slides/slide2.xml" Id="Rf18e2f87bae048ff" /><Relationship Type="http://schemas.openxmlformats.org/officeDocument/2006/relationships/slide" Target="/ppt/slides/slide3.xml" Id="Rf4e50929f31f4189" /><Relationship Type="http://schemas.openxmlformats.org/officeDocument/2006/relationships/slide" Target="/ppt/slides/slide4.xml" Id="Rc1671b138e054e49" /><Relationship Type="http://schemas.openxmlformats.org/officeDocument/2006/relationships/slide" Target="/ppt/slides/slide5.xml" Id="Re009080c6eee4074" /><Relationship Type="http://schemas.openxmlformats.org/officeDocument/2006/relationships/slide" Target="/ppt/slides/slide6.xml" Id="R4594cf3203994cfa" /><Relationship Type="http://schemas.openxmlformats.org/officeDocument/2006/relationships/slide" Target="/ppt/slides/slide7.xml" Id="R48a4d99e875842f6" /><Relationship Type="http://schemas.openxmlformats.org/officeDocument/2006/relationships/slide" Target="/ppt/slides/slide8.xml" Id="R55348d9e17b242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6b9125545b42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42eea18f4d44d5" /><Relationship Type="http://schemas.openxmlformats.org/officeDocument/2006/relationships/notesMaster" Target="/ppt/notesMasters/notesMaster1.xml" Id="Rf47ec8cc27774b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6d7204350d4435" /><Relationship Type="http://schemas.openxmlformats.org/officeDocument/2006/relationships/notesMaster" Target="/ppt/notesMasters/notesMaster1.xml" Id="Rb455a31afbea40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e295dd35d64dd6" /><Relationship Type="http://schemas.openxmlformats.org/officeDocument/2006/relationships/notesMaster" Target="/ppt/notesMasters/notesMaster1.xml" Id="R9d797b2e927d4b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491060db2f439c" /><Relationship Type="http://schemas.openxmlformats.org/officeDocument/2006/relationships/notesMaster" Target="/ppt/notesMasters/notesMaster1.xml" Id="R233c0ee489cb43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733418d525470b" /><Relationship Type="http://schemas.openxmlformats.org/officeDocument/2006/relationships/notesMaster" Target="/ppt/notesMasters/notesMaster1.xml" Id="R6a35791d142b4a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f0babc7639443c" /><Relationship Type="http://schemas.openxmlformats.org/officeDocument/2006/relationships/notesMaster" Target="/ppt/notesMasters/notesMaster1.xml" Id="R1f0fd492789643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cba78255a9490d" /><Relationship Type="http://schemas.openxmlformats.org/officeDocument/2006/relationships/notesMaster" Target="/ppt/notesMasters/notesMaster1.xml" Id="Rac26a089fc2949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dc9cedc61944286" /><Relationship Type="http://schemas.openxmlformats.org/officeDocument/2006/relationships/notesMaster" Target="/ppt/notesMasters/notesMaster1.xml" Id="R9a25102492de45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62bf96f6d943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63528f83594426" /><Relationship Type="http://schemas.openxmlformats.org/officeDocument/2006/relationships/slideLayout" Target="/ppt/slideLayouts/slideLayout1.xml" Id="Rffd2f72fa2044a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d2f72fa2044a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430343e039429c" /><Relationship Type="http://schemas.openxmlformats.org/officeDocument/2006/relationships/notesSlide" Target="/ppt/notesSlides/notesSlide1.xml" Id="Rd1e42b0d322846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d725b1a4044845" /><Relationship Type="http://schemas.openxmlformats.org/officeDocument/2006/relationships/notesSlide" Target="/ppt/notesSlides/notesSlide2.xml" Id="Rfa7af8e5186b46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2a800d8e4542c0" /><Relationship Type="http://schemas.openxmlformats.org/officeDocument/2006/relationships/notesSlide" Target="/ppt/notesSlides/notesSlide3.xml" Id="Rc49c5c1995914e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17e3a367b841dc" /><Relationship Type="http://schemas.openxmlformats.org/officeDocument/2006/relationships/notesSlide" Target="/ppt/notesSlides/notesSlide4.xml" Id="R9a55c62e145c40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9bc482834f45ea" /><Relationship Type="http://schemas.openxmlformats.org/officeDocument/2006/relationships/notesSlide" Target="/ppt/notesSlides/notesSlide5.xml" Id="Rad769418c7054e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aad868d5734dd9" /><Relationship Type="http://schemas.openxmlformats.org/officeDocument/2006/relationships/notesSlide" Target="/ppt/notesSlides/notesSlide6.xml" Id="R0cfa3bd2f4ac4b4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222ae30088466b" /><Relationship Type="http://schemas.openxmlformats.org/officeDocument/2006/relationships/notesSlide" Target="/ppt/notesSlides/notesSlide7.xml" Id="R4425e2d6047243e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24ba61d3b04974" /><Relationship Type="http://schemas.openxmlformats.org/officeDocument/2006/relationships/notesSlide" Target="/ppt/notesSlides/notesSlide8.xml" Id="Ra443d8417b9148b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E91ADD-3B8A-480E-BB63-F8DA1C46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B486"/>
                </a:solidFill>
              </a:defRPr>
            </a:pPr>
            <a:r>
              <a:rPr sz="900" b="1">
                <a:solidFill>
                  <a:srgbClr val="20B486"/>
                </a:solidFill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1DD718-C6BC-4C94-9E0D-1A599A883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1830"/>
                </a:solidFill>
              </a:defRPr>
            </a:pPr>
            <a:r>
              <a:rPr sz="2475" b="1">
                <a:solidFill>
                  <a:srgbClr val="0B1830"/>
                </a:solidFill>
              </a:rPr>
              <a:t>Green capital needs a clearer line of sight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514931-6153-4203-BB4B-0944703F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4"/>
                </a:solidFill>
              </a:defRPr>
            </a:pPr>
            <a:r>
              <a:rPr sz="1200" b="0">
                <a:solidFill>
                  <a:srgbClr val="526174"/>
                </a:solidFill>
              </a:rPr>
              <a:t>Argus AML turns fragmented flows into explainable network intelligence.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750A23-E89D-4402-925D-3B2FDA47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D9AF59-5621-4D08-B9C2-3003B610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26174"/>
                </a:solidFill>
              </a:defRPr>
            </a:pPr>
            <a:r>
              <a:rPr sz="750" b="1">
                <a:solidFill>
                  <a:srgbClr val="526174"/>
                </a:solidFill>
              </a:rPr>
              <a:t>ARGUS AML  |  GREEN FINANCING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259D96-ACB0-453F-A33C-8286D60E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24625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174"/>
                </a:solidFill>
              </a:defRPr>
            </a:pPr>
            <a:r>
              <a:rPr sz="825" b="0">
                <a:solidFill>
                  <a:srgbClr val="526174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37C152-C8AE-4DC2-97B6-32686D66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905375" cy="3714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071B33"/>
          </a:solidFill>
          <a:ln xmlns:a="http://schemas.openxmlformats.org/drawingml/2006/main" w="9525">
            <a:solidFill>
              <a:srgbClr val="071B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916D46-02F3-4891-A3AF-3F253557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19325"/>
            <a:ext cx="904875" cy="276225"/>
          </a:xfrm>
          <a:prstGeom xmlns:a="http://schemas.openxmlformats.org/drawingml/2006/main" prst="roundRect">
            <a:avLst>
              <a:gd name="adj" fmla="val 48276"/>
            </a:avLst>
          </a:prstGeom>
          <a:solidFill xmlns:a="http://schemas.openxmlformats.org/drawingml/2006/main">
            <a:srgbClr val="133255"/>
          </a:solidFill>
          <a:ln xmlns:a="http://schemas.openxmlformats.org/drawingml/2006/main" w="9525">
            <a:solidFill>
              <a:srgbClr val="1332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43C9CC-1342-4FBF-9A77-2858B5CD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286000"/>
            <a:ext cx="7334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B9F227"/>
                </a:solidFill>
              </a:defRPr>
            </a:pPr>
            <a:r>
              <a:rPr sz="825" b="1">
                <a:solidFill>
                  <a:srgbClr val="B9F227"/>
                </a:solidFill>
              </a:rPr>
              <a:t>THE GAP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3DD2C6-9971-4FDA-B7F0-ECBE16C6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4143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Green financing creates</a:t>
            </a:r>
          </a:p>
          <a:p xmlns:a="http://schemas.openxmlformats.org/drawingml/2006/main">
            <a:pPr algn="l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legitimate complexity - and</a:t>
            </a:r>
          </a:p>
          <a:p xmlns:a="http://schemas.openxmlformats.org/drawingml/2006/main">
            <a:pPr algn="l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valuable cover for crime.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EA3DC3-8526-46F4-BBDA-5DDB2C65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7195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E3F4"/>
                </a:solidFill>
              </a:defRPr>
            </a:pPr>
            <a:r>
              <a:rPr sz="1200" b="0">
                <a:solidFill>
                  <a:srgbClr val="D7E3F4"/>
                </a:solidFill>
              </a:rPr>
              <a:t>SPVs, suppliers, consultants and offshore entities can hide diversion, layering and beneficial ownership.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5E36E4-3E58-40DA-8493-071741A2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3886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F227"/>
                </a:solidFill>
              </a:defRPr>
            </a:pPr>
            <a:r>
              <a:rPr sz="1200" b="1">
                <a:solidFill>
                  <a:srgbClr val="B9F227"/>
                </a:solidFill>
              </a:rPr>
              <a:t>1-hop monitoring sees a payment.</a:t>
            </a:r>
          </a:p>
          <a:p xmlns:a="http://schemas.openxmlformats.org/drawingml/2006/main">
            <a:pPr algn="l">
              <a:defRPr sz="1200" b="1">
                <a:solidFill>
                  <a:srgbClr val="B9F227"/>
                </a:solidFill>
              </a:defRPr>
            </a:pPr>
            <a:r>
              <a:rPr sz="1200" b="1">
                <a:solidFill>
                  <a:srgbClr val="B9F227"/>
                </a:solidFill>
              </a:rPr>
              <a:t>Argus follows the money beyond 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696202-55E2-4A00-9C28-B4C9E6170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00250"/>
            <a:ext cx="5286375" cy="933450"/>
          </a:xfrm>
          <a:prstGeom xmlns:a="http://schemas.openxmlformats.org/drawingml/2006/main" prst="roundRect">
            <a:avLst>
              <a:gd name="adj" fmla="val 183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8A4E48-51EF-4646-B212-CF2973BC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2288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877F0"/>
                </a:solidFill>
              </a:defRPr>
            </a:pPr>
            <a:r>
              <a:rPr sz="1500" b="1">
                <a:solidFill>
                  <a:srgbClr val="3877F0"/>
                </a:solidFill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2A854A-E4B4-4F72-BA80-ABC287E6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171700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830"/>
                </a:solidFill>
              </a:defRPr>
            </a:pPr>
            <a:r>
              <a:rPr sz="1425" b="1">
                <a:solidFill>
                  <a:srgbClr val="0B1830"/>
                </a:solidFill>
              </a:rPr>
              <a:t>Ring-fenced funds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FB9282-E392-4F14-AF1F-74806BA8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44792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4"/>
                </a:solidFill>
              </a:defRPr>
            </a:pPr>
            <a:r>
              <a:rPr sz="1050" b="0">
                <a:solidFill>
                  <a:srgbClr val="526174"/>
                </a:solidFill>
              </a:rPr>
              <a:t>Must reach verified sustainable activity.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59807F-B03A-4A69-87B9-F2F90D01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90875"/>
            <a:ext cx="5286375" cy="933450"/>
          </a:xfrm>
          <a:prstGeom xmlns:a="http://schemas.openxmlformats.org/drawingml/2006/main" prst="roundRect">
            <a:avLst>
              <a:gd name="adj" fmla="val 183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097F9F-038E-441B-8249-49A75920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4194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877F0"/>
                </a:solidFill>
              </a:defRPr>
            </a:pPr>
            <a:r>
              <a:rPr sz="1500" b="1">
                <a:solidFill>
                  <a:srgbClr val="3877F0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25D8E3-F3F3-4601-BD91-B84F99C8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36232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830"/>
                </a:solidFill>
              </a:defRPr>
            </a:pPr>
            <a:r>
              <a:rPr sz="1425" b="1">
                <a:solidFill>
                  <a:srgbClr val="0B1830"/>
                </a:solidFill>
              </a:rPr>
              <a:t>Legacy blind spot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29335B-2E0A-4030-8063-3324C5E9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638550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4"/>
                </a:solidFill>
              </a:defRPr>
            </a:pPr>
            <a:r>
              <a:rPr sz="1050" b="0">
                <a:solidFill>
                  <a:srgbClr val="526174"/>
                </a:solidFill>
              </a:rPr>
              <a:t>Rules assess transactions in isolation.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7D8CD3-202A-4E74-8790-0ECF228B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81500"/>
            <a:ext cx="5286375" cy="933450"/>
          </a:xfrm>
          <a:prstGeom xmlns:a="http://schemas.openxmlformats.org/drawingml/2006/main" prst="roundRect">
            <a:avLst>
              <a:gd name="adj" fmla="val 183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8D0A51-23E7-45DB-9D27-90703244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6101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B486"/>
                </a:solidFill>
              </a:defRPr>
            </a:pPr>
            <a:r>
              <a:rPr sz="1500" b="1">
                <a:solidFill>
                  <a:srgbClr val="20B486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CC5EBB-7607-4178-B5B2-81581BA4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52950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830"/>
                </a:solidFill>
              </a:defRPr>
            </a:pPr>
            <a:r>
              <a:rPr sz="1425" b="1">
                <a:solidFill>
                  <a:srgbClr val="0B1830"/>
                </a:solidFill>
              </a:rPr>
              <a:t>Argus objective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7E315D-9C5D-405B-9486-FC125BE8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82917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4"/>
                </a:solidFill>
              </a:defRPr>
            </a:pPr>
            <a:r>
              <a:rPr sz="1050" b="0">
                <a:solidFill>
                  <a:srgbClr val="526174"/>
                </a:solidFill>
              </a:rPr>
              <a:t>Expose 2-hop paths, prioritize evidence, reduce review burden.</a:t>
            </a:r>
          </a:p>
        </p:txBody>
      </p:sp>
    </p:spTree>
    <p:extLst>
      <p:ext uri="{BB962C8B-B14F-4D97-AF65-F5344CB8AC3E}">
        <p14:creationId xmlns:p14="http://schemas.microsoft.com/office/powerpoint/2010/main" val="19551804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FCF36A-06F3-4401-8396-174DAE52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B486"/>
                </a:solidFill>
              </a:defRPr>
            </a:pPr>
            <a:r>
              <a:rPr sz="900" b="1">
                <a:solidFill>
                  <a:srgbClr val="20B486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B3AAEC-5FBA-473F-90A6-50673742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1830"/>
                </a:solidFill>
              </a:defRPr>
            </a:pPr>
            <a:r>
              <a:rPr sz="2475" b="1">
                <a:solidFill>
                  <a:srgbClr val="0B1830"/>
                </a:solidFill>
              </a:rPr>
              <a:t>Argus enforces the intent behind green-finance 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29FD87-ABED-4E61-AB7B-105F1ABA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4"/>
                </a:solidFill>
              </a:defRPr>
            </a:pPr>
            <a:r>
              <a:rPr sz="1200" b="0">
                <a:solidFill>
                  <a:srgbClr val="526174"/>
                </a:solidFill>
              </a:rPr>
              <a:t>Every payment is assessed for purpose, provenance and destination integrity.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CC10D4-3C37-4924-98D6-87FADA61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4EFC8E-BFF3-485C-8905-3A15C8DF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26174"/>
                </a:solidFill>
              </a:defRPr>
            </a:pPr>
            <a:r>
              <a:rPr sz="750" b="1">
                <a:solidFill>
                  <a:srgbClr val="526174"/>
                </a:solidFill>
              </a:rPr>
              <a:t>ARGUS AML  |  GREEN FINANCING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6DE55D-7499-478F-A382-FD4B2683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24625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174"/>
                </a:solidFill>
              </a:defRPr>
            </a:pPr>
            <a:r>
              <a:rPr sz="825" b="0">
                <a:solidFill>
                  <a:srgbClr val="526174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8C4CC5-0E92-4B78-B3A2-D3443D7D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295650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1C920D-EF2E-4A9B-9163-F5041DA0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457200" cy="276225"/>
          </a:xfrm>
          <a:prstGeom xmlns:a="http://schemas.openxmlformats.org/drawingml/2006/main" prst="roundRect">
            <a:avLst>
              <a:gd name="adj" fmla="val 48276"/>
            </a:avLst>
          </a:prstGeom>
          <a:solidFill xmlns:a="http://schemas.openxmlformats.org/drawingml/2006/main">
            <a:srgbClr val="E7F8F1"/>
          </a:solidFill>
          <a:ln xmlns:a="http://schemas.openxmlformats.org/drawingml/2006/main" w="9525">
            <a:solidFill>
              <a:srgbClr val="E7F8F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C94463-9FB8-41B0-9E77-0E0AA95C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90775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0B486"/>
                </a:solidFill>
              </a:defRPr>
            </a:pPr>
            <a:r>
              <a:rPr sz="825" b="1">
                <a:solidFill>
                  <a:srgbClr val="20B486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A0BB73-F8C1-4292-970F-D4045A67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2809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830"/>
                </a:solidFill>
              </a:defRPr>
            </a:pPr>
            <a:r>
              <a:rPr sz="1275" b="1">
                <a:solidFill>
                  <a:srgbClr val="0B1830"/>
                </a:solidFill>
              </a:rPr>
              <a:t>USE OF PROCEEDS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BD3DC8-4F05-4DFD-A6A8-FD44D1DAC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81375"/>
            <a:ext cx="2714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4"/>
                </a:solidFill>
              </a:defRPr>
            </a:pPr>
            <a:r>
              <a:rPr sz="1200" b="0">
                <a:solidFill>
                  <a:srgbClr val="526174"/>
                </a:solidFill>
              </a:rPr>
              <a:t>Funds should support verified green activity.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3ADA83-5493-4907-8610-740A3FBB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48125"/>
            <a:ext cx="283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3EF671-D657-4797-B744-FE1F8757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6725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0B486"/>
                </a:solidFill>
              </a:defRPr>
            </a:pPr>
            <a:r>
              <a:rPr sz="825" b="1">
                <a:solidFill>
                  <a:srgbClr val="20B486"/>
                </a:solidFill>
              </a:rPr>
              <a:t>ARGUS ALIGNMENT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180D13-2651-4602-A582-D6C200E8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1830"/>
                </a:solidFill>
              </a:defRPr>
            </a:pPr>
            <a:r>
              <a:rPr sz="1050" b="1">
                <a:solidFill>
                  <a:srgbClr val="0B1830"/>
                </a:solidFill>
              </a:rPr>
              <a:t>Trace proceeds across direct and inferred paths.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3F748B-5988-4DCB-857F-0A9E772E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76450"/>
            <a:ext cx="3295650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68EFFD-97B0-4738-90F3-D421C16C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24100"/>
            <a:ext cx="457200" cy="276225"/>
          </a:xfrm>
          <a:prstGeom xmlns:a="http://schemas.openxmlformats.org/drawingml/2006/main" prst="roundRect">
            <a:avLst>
              <a:gd name="adj" fmla="val 48276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5F620F-F3AE-4908-BFEA-7B0008E7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390775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877F0"/>
                </a:solidFill>
              </a:defRPr>
            </a:pPr>
            <a:r>
              <a:rPr sz="825" b="1">
                <a:solidFill>
                  <a:srgbClr val="3877F0"/>
                </a:solidFill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746E78-CF4C-4429-967E-6D57EE65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2809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830"/>
                </a:solidFill>
              </a:defRPr>
            </a:pPr>
            <a:r>
              <a:rPr sz="1275" b="1">
                <a:solidFill>
                  <a:srgbClr val="0B1830"/>
                </a:solidFill>
              </a:rPr>
              <a:t>KYC &amp; BENEFICIAL OWNERSHIP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6A676E-ECF5-4AB3-9A06-470F2FD3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81375"/>
            <a:ext cx="2714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4"/>
                </a:solidFill>
              </a:defRPr>
            </a:pPr>
            <a:r>
              <a:rPr sz="1200" b="0">
                <a:solidFill>
                  <a:srgbClr val="526174"/>
                </a:solidFill>
              </a:rPr>
              <a:t>Counterparties and UBOs must remain transparent.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3C67E3-FAA9-41FB-8ABD-8D6ADCC3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48125"/>
            <a:ext cx="283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50E629-21FD-4FEB-BA91-FE178C4C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276725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0B486"/>
                </a:solidFill>
              </a:defRPr>
            </a:pPr>
            <a:r>
              <a:rPr sz="825" b="1">
                <a:solidFill>
                  <a:srgbClr val="20B486"/>
                </a:solidFill>
              </a:rPr>
              <a:t>ARGUS ALIGNMENT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9BC8E8-6505-496F-9A27-B3926E9F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7675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1830"/>
                </a:solidFill>
              </a:defRPr>
            </a:pPr>
            <a:r>
              <a:rPr sz="1050" b="1">
                <a:solidFill>
                  <a:srgbClr val="0B1830"/>
                </a:solidFill>
              </a:rPr>
              <a:t>Surface shared addresses, identifiers and hidden affiliations.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91F79A-835D-4AF7-90D4-5F11550B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76450"/>
            <a:ext cx="3295650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3B5A09-F185-449B-B8B5-F99270DB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24100"/>
            <a:ext cx="457200" cy="276225"/>
          </a:xfrm>
          <a:prstGeom xmlns:a="http://schemas.openxmlformats.org/drawingml/2006/main" prst="roundRect">
            <a:avLst>
              <a:gd name="adj" fmla="val 48276"/>
            </a:avLst>
          </a:prstGeom>
          <a:solidFill xmlns:a="http://schemas.openxmlformats.org/drawingml/2006/main">
            <a:srgbClr val="E7F8F1"/>
          </a:solidFill>
          <a:ln xmlns:a="http://schemas.openxmlformats.org/drawingml/2006/main" w="9525">
            <a:solidFill>
              <a:srgbClr val="E7F8F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9B0015-6C1E-474F-B20B-8ABF73E5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390775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0B486"/>
                </a:solidFill>
              </a:defRPr>
            </a:pPr>
            <a:r>
              <a:rPr sz="825" b="1">
                <a:solidFill>
                  <a:srgbClr val="20B486"/>
                </a:solidFill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AE01CF-EDB9-4150-87E1-9BEB420D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57500"/>
            <a:ext cx="2809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830"/>
                </a:solidFill>
              </a:defRPr>
            </a:pPr>
            <a:r>
              <a:rPr sz="1275" b="1">
                <a:solidFill>
                  <a:srgbClr val="0B1830"/>
                </a:solidFill>
              </a:rPr>
              <a:t>AML / SANCTIONS SCREENING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493DFC-A4D6-4739-AA42-AD7A3C82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81375"/>
            <a:ext cx="2714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4"/>
                </a:solidFill>
              </a:defRPr>
            </a:pPr>
            <a:r>
              <a:rPr sz="1200" b="0">
                <a:solidFill>
                  <a:srgbClr val="526174"/>
                </a:solidFill>
              </a:rPr>
              <a:t>Risk must be detected, justified and escalated.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35DF52-0DA8-46F3-91FA-38B39151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48125"/>
            <a:ext cx="283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4734EB-FE52-47BB-8B5B-E408FAC9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76725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0B486"/>
                </a:solidFill>
              </a:defRPr>
            </a:pPr>
            <a:r>
              <a:rPr sz="825" b="1">
                <a:solidFill>
                  <a:srgbClr val="20B486"/>
                </a:solidFill>
              </a:rPr>
              <a:t>ARGUS ALIGNMENT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205703-C43A-45E1-A791-375CD914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7675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1830"/>
                </a:solidFill>
              </a:defRPr>
            </a:pPr>
            <a:r>
              <a:rPr sz="1050" b="1">
                <a:solidFill>
                  <a:srgbClr val="0B1830"/>
                </a:solidFill>
              </a:rPr>
              <a:t>Screen exclusions, rank evidence and prepare an auditable case.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6D4DD1-A787-4E6C-AAF1-A3DEB3AD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830"/>
                </a:solidFill>
              </a:defRPr>
            </a:pPr>
            <a:r>
              <a:rPr sz="1425" b="1">
                <a:solidFill>
                  <a:srgbClr val="0B1830"/>
                </a:solidFill>
              </a:rPr>
              <a:t>Result: compliance logic becomes visual, explainable and reviewable - not a black-box score.</a:t>
            </a:r>
          </a:p>
        </p:txBody>
      </p:sp>
    </p:spTree>
    <p:extLst>
      <p:ext uri="{BB962C8B-B14F-4D97-AF65-F5344CB8AC3E}">
        <p14:creationId xmlns:p14="http://schemas.microsoft.com/office/powerpoint/2010/main" val="936069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A790FA-0874-42A2-971C-ACE08E4D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B486"/>
                </a:solidFill>
              </a:defRPr>
            </a:pPr>
            <a:r>
              <a:rPr sz="900" b="1">
                <a:solidFill>
                  <a:srgbClr val="20B486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A4BE83-A998-48A9-8AC2-F0191D4E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1830"/>
                </a:solidFill>
              </a:defRPr>
            </a:pPr>
            <a:r>
              <a:rPr sz="2475" b="1">
                <a:solidFill>
                  <a:srgbClr val="0B1830"/>
                </a:solidFill>
              </a:rPr>
              <a:t>A focused agent workflow converts events into defensible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2C8528-9C81-4AD6-B4A6-25E00101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4"/>
                </a:solidFill>
              </a:defRPr>
            </a:pPr>
            <a:r>
              <a:rPr sz="1200" b="0">
                <a:solidFill>
                  <a:srgbClr val="526174"/>
                </a:solidFill>
              </a:rPr>
              <a:t>Specialized workers are orchestrated around a single investigator outcome.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736BFA-5D27-4121-859A-61228ACD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9B5543-628B-4E0B-A20F-FE257AB4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26174"/>
                </a:solidFill>
              </a:defRPr>
            </a:pPr>
            <a:r>
              <a:rPr sz="750" b="1">
                <a:solidFill>
                  <a:srgbClr val="526174"/>
                </a:solidFill>
              </a:rPr>
              <a:t>ARGUS AML  |  GREEN FINANCING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9DFC92-6189-4C2D-8AFB-7ED5FC53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24625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174"/>
                </a:solidFill>
              </a:defRPr>
            </a:pPr>
            <a:r>
              <a:rPr sz="825" b="0">
                <a:solidFill>
                  <a:srgbClr val="526174"/>
                </a:solidFill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04E776-0B12-4DCB-A020-2E6421802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42875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071B33"/>
          </a:solidFill>
          <a:ln xmlns:a="http://schemas.openxmlformats.org/drawingml/2006/main" w="9525">
            <a:solidFill>
              <a:srgbClr val="071B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C400AD-C257-4FBA-80D0-506F3B22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428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9F227"/>
                </a:solidFill>
              </a:defRPr>
            </a:pPr>
            <a:r>
              <a:rPr sz="975" b="1">
                <a:solidFill>
                  <a:srgbClr val="B9F227"/>
                </a:solidFill>
              </a:rPr>
              <a:t>EVENTS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A0C292-58C7-428D-94B1-85656434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Transactions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KYC · watchlists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7CAE2B-55A7-411A-BC7C-466E0052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552700"/>
            <a:ext cx="17907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8A96C5-9070-43C8-A4D3-7E9C8380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743200"/>
            <a:ext cx="361950" cy="276225"/>
          </a:xfrm>
          <a:prstGeom xmlns:a="http://schemas.openxmlformats.org/drawingml/2006/main" prst="roundRect">
            <a:avLst>
              <a:gd name="adj" fmla="val 48276"/>
            </a:avLst>
          </a:prstGeom>
          <a:solidFill xmlns:a="http://schemas.openxmlformats.org/drawingml/2006/main">
            <a:srgbClr val="3877F0">
              <a:alpha val="13333"/>
            </a:srgbClr>
          </a:solidFill>
          <a:ln xmlns:a="http://schemas.openxmlformats.org/drawingml/2006/main" w="9525">
            <a:solidFill>
              <a:srgbClr val="3877F0">
                <a:alpha val="13333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F0539F-9655-4629-A57C-92B236F1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809875"/>
            <a:ext cx="190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877F0"/>
                </a:solidFill>
              </a:defRPr>
            </a:pPr>
            <a:r>
              <a:rPr sz="825" b="1">
                <a:solidFill>
                  <a:srgbClr val="3877F0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704D2A-20CB-4D54-BF0D-5A699904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143250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830"/>
                </a:solidFill>
              </a:defRPr>
            </a:pPr>
            <a:r>
              <a:rPr sz="1200" b="1">
                <a:solidFill>
                  <a:srgbClr val="0B1830"/>
                </a:solidFill>
              </a:rPr>
              <a:t>Ingestion agent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45C2CB-30CE-4631-B37C-60DD14D0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429000"/>
            <a:ext cx="142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74"/>
                </a:solidFill>
              </a:defRPr>
            </a:pPr>
            <a:r>
              <a:rPr sz="900" b="0">
                <a:solidFill>
                  <a:srgbClr val="526174"/>
                </a:solidFill>
              </a:rPr>
              <a:t>Validates, deduplicates and enriches incoming events.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A4053B-1FB9-4F4C-8920-3A537714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52700"/>
            <a:ext cx="17907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260E12-10FA-4989-A6CF-C8C8CF84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743200"/>
            <a:ext cx="361950" cy="276225"/>
          </a:xfrm>
          <a:prstGeom xmlns:a="http://schemas.openxmlformats.org/drawingml/2006/main" prst="roundRect">
            <a:avLst>
              <a:gd name="adj" fmla="val 48276"/>
            </a:avLst>
          </a:prstGeom>
          <a:solidFill xmlns:a="http://schemas.openxmlformats.org/drawingml/2006/main">
            <a:srgbClr val="20B486">
              <a:alpha val="13333"/>
            </a:srgbClr>
          </a:solidFill>
          <a:ln xmlns:a="http://schemas.openxmlformats.org/drawingml/2006/main" w="9525">
            <a:solidFill>
              <a:srgbClr val="20B486">
                <a:alpha val="13333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F2CEC3-C0EA-4B1F-B871-0F140593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09875"/>
            <a:ext cx="190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0B486"/>
                </a:solidFill>
              </a:defRPr>
            </a:pPr>
            <a:r>
              <a:rPr sz="825" b="1">
                <a:solidFill>
                  <a:srgbClr val="20B486"/>
                </a:solidFill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769091-4BCE-4828-AE55-181CB995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143250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830"/>
                </a:solidFill>
              </a:defRPr>
            </a:pPr>
            <a:r>
              <a:rPr sz="1200" b="1">
                <a:solidFill>
                  <a:srgbClr val="0B1830"/>
                </a:solidFill>
              </a:rPr>
              <a:t>Graph agent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F04F6F-4764-467C-92D4-2AECAAB3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429000"/>
            <a:ext cx="142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74"/>
                </a:solidFill>
              </a:defRPr>
            </a:pPr>
            <a:r>
              <a:rPr sz="900" b="0">
                <a:solidFill>
                  <a:srgbClr val="526174"/>
                </a:solidFill>
              </a:rPr>
              <a:t>Builds the bounded scenario graph and expands 2-hop paths.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8E6C34-C3E2-4B3B-BEDE-636E976D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552700"/>
            <a:ext cx="17907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710563-BEC0-4903-BE15-B8BB717B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743200"/>
            <a:ext cx="361950" cy="276225"/>
          </a:xfrm>
          <a:prstGeom xmlns:a="http://schemas.openxmlformats.org/drawingml/2006/main" prst="roundRect">
            <a:avLst>
              <a:gd name="adj" fmla="val 48276"/>
            </a:avLst>
          </a:prstGeom>
          <a:solidFill xmlns:a="http://schemas.openxmlformats.org/drawingml/2006/main">
            <a:srgbClr val="FFB84D">
              <a:alpha val="13333"/>
            </a:srgbClr>
          </a:solidFill>
          <a:ln xmlns:a="http://schemas.openxmlformats.org/drawingml/2006/main" w="9525">
            <a:solidFill>
              <a:srgbClr val="FFB84D">
                <a:alpha val="13333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C429C8-F935-4960-86EB-8607B7F6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09875"/>
            <a:ext cx="190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B84D"/>
                </a:solidFill>
              </a:defRPr>
            </a:pPr>
            <a:r>
              <a:rPr sz="825" b="1">
                <a:solidFill>
                  <a:srgbClr val="FFB84D"/>
                </a:solidFill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BDFFB1-C32A-40E6-9768-B6EC12DE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143250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830"/>
                </a:solidFill>
              </a:defRPr>
            </a:pPr>
            <a:r>
              <a:rPr sz="1200" b="1">
                <a:solidFill>
                  <a:srgbClr val="0B1830"/>
                </a:solidFill>
              </a:rPr>
              <a:t>Signal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790902-9AD6-4694-ACEE-F6A19476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429000"/>
            <a:ext cx="142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74"/>
                </a:solidFill>
              </a:defRPr>
            </a:pPr>
            <a:r>
              <a:rPr sz="900" b="0">
                <a:solidFill>
                  <a:srgbClr val="526174"/>
                </a:solidFill>
              </a:rPr>
              <a:t>Finds cycles, address density, exclusions and mule patterns.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25BF59-63DF-46B8-911B-663694C4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552700"/>
            <a:ext cx="17907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5A3E07-01F9-42FF-AD83-055DB906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743200"/>
            <a:ext cx="361950" cy="276225"/>
          </a:xfrm>
          <a:prstGeom xmlns:a="http://schemas.openxmlformats.org/drawingml/2006/main" prst="roundRect">
            <a:avLst>
              <a:gd name="adj" fmla="val 48276"/>
            </a:avLst>
          </a:prstGeom>
          <a:solidFill xmlns:a="http://schemas.openxmlformats.org/drawingml/2006/main">
            <a:srgbClr val="EF5B5B">
              <a:alpha val="13333"/>
            </a:srgbClr>
          </a:solidFill>
          <a:ln xmlns:a="http://schemas.openxmlformats.org/drawingml/2006/main" w="9525">
            <a:solidFill>
              <a:srgbClr val="EF5B5B">
                <a:alpha val="13333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C7C38A-E79C-4917-992A-E1EF698B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09875"/>
            <a:ext cx="190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F5B5B"/>
                </a:solidFill>
              </a:defRPr>
            </a:pPr>
            <a:r>
              <a:rPr sz="825" b="1">
                <a:solidFill>
                  <a:srgbClr val="EF5B5B"/>
                </a:solidFill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7AD5F8-4671-4E85-BEEC-AA91C18F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143250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830"/>
                </a:solidFill>
              </a:defRPr>
            </a:pPr>
            <a:r>
              <a:rPr sz="1200" b="1">
                <a:solidFill>
                  <a:srgbClr val="0B1830"/>
                </a:solidFill>
              </a:rPr>
              <a:t>Evidence agent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190783-1D35-4BD3-9E46-E5A39916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429000"/>
            <a:ext cx="142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74"/>
                </a:solidFill>
              </a:defRPr>
            </a:pPr>
            <a:r>
              <a:rPr sz="900" b="0">
                <a:solidFill>
                  <a:srgbClr val="526174"/>
                </a:solidFill>
              </a:rPr>
              <a:t>Calculates explainable scores and assembles case evidence.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801617-4213-4D27-B3FC-FFEFFF11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0"/>
            <a:ext cx="552450" cy="8382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071B33"/>
          </a:solidFill>
          <a:ln xmlns:a="http://schemas.openxmlformats.org/drawingml/2006/main" w="9525">
            <a:solidFill>
              <a:srgbClr val="071B3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4DF40A-7610-4D8C-8C10-A7B66743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6705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CASE</a:t>
            </a:r>
          </a:p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+ SAR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C29886-BF33-42B5-A74B-76DEE58B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28975"/>
            <a:ext cx="333375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5B3C4"/>
          </a:solidFill>
          <a:ln xmlns:a="http://schemas.openxmlformats.org/drawingml/2006/main" w="0">
            <a:solidFill>
              <a:srgbClr val="A5B3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3BA152-CB3C-44AA-A4DA-55741B05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238500"/>
            <a:ext cx="2286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5B3C4"/>
          </a:solidFill>
          <a:ln xmlns:a="http://schemas.openxmlformats.org/drawingml/2006/main" w="0">
            <a:solidFill>
              <a:srgbClr val="A5B3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D3118A-E68A-4177-927D-50FC7EFF3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238500"/>
            <a:ext cx="2286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5B3C4"/>
          </a:solidFill>
          <a:ln xmlns:a="http://schemas.openxmlformats.org/drawingml/2006/main" w="0">
            <a:solidFill>
              <a:srgbClr val="A5B3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AFF7FA-5C9D-4438-8275-3FBBCF23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238500"/>
            <a:ext cx="2286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5B3C4"/>
          </a:solidFill>
          <a:ln xmlns:a="http://schemas.openxmlformats.org/drawingml/2006/main" w="0">
            <a:solidFill>
              <a:srgbClr val="A5B3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2230C2-1250-4164-89C1-6D76F4C0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3238500"/>
            <a:ext cx="276225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5B3C4"/>
          </a:solidFill>
          <a:ln xmlns:a="http://schemas.openxmlformats.org/drawingml/2006/main" w="0">
            <a:solidFill>
              <a:srgbClr val="A5B3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A5CA26-060D-4FA9-8387-3730B38B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62150"/>
            <a:ext cx="1809750" cy="276225"/>
          </a:xfrm>
          <a:prstGeom xmlns:a="http://schemas.openxmlformats.org/drawingml/2006/main" prst="roundRect">
            <a:avLst>
              <a:gd name="adj" fmla="val 48276"/>
            </a:avLst>
          </a:prstGeom>
          <a:solidFill xmlns:a="http://schemas.openxmlformats.org/drawingml/2006/main">
            <a:srgbClr val="071B33"/>
          </a:solidFill>
          <a:ln xmlns:a="http://schemas.openxmlformats.org/drawingml/2006/main" w="9525">
            <a:solidFill>
              <a:srgbClr val="071B3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5EA562B-A572-4A93-8D1A-BFB2AC0F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28825"/>
            <a:ext cx="1638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2A9E724-27D3-4383-B94E-55F970F4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629150"/>
            <a:ext cx="561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174"/>
                </a:solidFill>
              </a:defRPr>
            </a:pPr>
            <a:r>
              <a:rPr sz="1125" b="0">
                <a:solidFill>
                  <a:srgbClr val="526174"/>
                </a:solidFill>
              </a:rPr>
              <a:t>Routes jobs · manages retry / backpressure · keeps human approval in the loop</a:t>
            </a:r>
          </a:p>
        </p:txBody>
      </p:sp>
    </p:spTree>
    <p:extLst>
      <p:ext uri="{BB962C8B-B14F-4D97-AF65-F5344CB8AC3E}">
        <p14:creationId xmlns:p14="http://schemas.microsoft.com/office/powerpoint/2010/main" val="18340024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1A6476-1745-443D-9ABC-6AEE1B4A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B486"/>
                </a:solidFill>
              </a:defRPr>
            </a:pPr>
            <a:r>
              <a:rPr sz="900" b="1">
                <a:solidFill>
                  <a:srgbClr val="20B486"/>
                </a:solidFill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C1946E-4946-42C4-B2CF-213E16B9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1830"/>
                </a:solidFill>
              </a:defRPr>
            </a:pPr>
            <a:r>
              <a:rPr sz="2475" b="1">
                <a:solidFill>
                  <a:srgbClr val="0B1830"/>
                </a:solidFill>
              </a:rPr>
              <a:t>One graph explains both the benign and the complex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C4E9F9-732B-4DE9-ABA6-D293C4B0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4"/>
                </a:solidFill>
              </a:defRPr>
            </a:pPr>
            <a:r>
              <a:rPr sz="1200" b="0">
                <a:solidFill>
                  <a:srgbClr val="526174"/>
                </a:solidFill>
              </a:rPr>
              <a:t>Direct risk detects known signals; inferred confidence reveals rapid pass-through.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284621-C48A-4DA0-ADF5-5B79553D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BDD627-546D-47E0-9252-FA5313CF0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26174"/>
                </a:solidFill>
              </a:defRPr>
            </a:pPr>
            <a:r>
              <a:rPr sz="750" b="1">
                <a:solidFill>
                  <a:srgbClr val="526174"/>
                </a:solidFill>
              </a:rPr>
              <a:t>ARGUS AML  |  GREEN FINANCING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4EEEDE-7EFC-488B-B83D-6786F05E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24625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174"/>
                </a:solidFill>
              </a:defRPr>
            </a:pPr>
            <a:r>
              <a:rPr sz="825" b="0">
                <a:solidFill>
                  <a:srgbClr val="526174"/>
                </a:solidFill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3AE6A4-9663-422A-A9A8-21EBBD90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B486"/>
                </a:solidFill>
              </a:defRPr>
            </a:pPr>
            <a:r>
              <a:rPr sz="900" b="1">
                <a:solidFill>
                  <a:srgbClr val="20B486"/>
                </a:solidFill>
              </a:rPr>
              <a:t>EXAMPLE SCENARIOS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D79EBD-97FC-4979-98C0-46977ADB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4762500" cy="1381125"/>
          </a:xfrm>
          <a:prstGeom xmlns:a="http://schemas.openxmlformats.org/drawingml/2006/main" prst="roundRect">
            <a:avLst>
              <a:gd name="adj" fmla="val 124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7D9F53-266F-47FF-9277-1644D05E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2381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830"/>
                </a:solidFill>
              </a:defRPr>
            </a:pPr>
            <a:r>
              <a:rPr sz="1275" b="1">
                <a:solidFill>
                  <a:srgbClr val="0B1830"/>
                </a:solidFill>
              </a:rPr>
              <a:t>Simple: routine procurement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EBEE5B-BCFE-4167-81F6-651AF470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857500"/>
            <a:ext cx="104775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3877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13169E-FECE-415E-B53B-269CBF39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05100"/>
            <a:ext cx="1095375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7F8F1"/>
          </a:solidFill>
          <a:ln xmlns:a="http://schemas.openxmlformats.org/drawingml/2006/main" w="9525">
            <a:solidFill>
              <a:srgbClr val="20B48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89730F-2602-4AA3-AD24-24208944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33725"/>
            <a:ext cx="1095375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7F8F1"/>
          </a:solidFill>
          <a:ln xmlns:a="http://schemas.openxmlformats.org/drawingml/2006/main" w="9525">
            <a:solidFill>
              <a:srgbClr val="20B48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48B4C9-3216-4FBF-9F2B-B00AB16A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97180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877F0"/>
                </a:solidFill>
              </a:defRPr>
            </a:pPr>
            <a:r>
              <a:rPr sz="900" b="1">
                <a:solidFill>
                  <a:srgbClr val="3877F0"/>
                </a:solidFill>
              </a:rPr>
              <a:t>CORP-1101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90922D-E856-4DB4-B286-60AED4E5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52725"/>
            <a:ext cx="1095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0B486"/>
                </a:solidFill>
              </a:defRPr>
            </a:pPr>
            <a:r>
              <a:rPr sz="825" b="1">
                <a:solidFill>
                  <a:srgbClr val="20B486"/>
                </a:solidFill>
              </a:rPr>
              <a:t>MSME-1102</a:t>
            </a:r>
          </a:p>
          <a:p xmlns:a="http://schemas.openxmlformats.org/drawingml/2006/main">
            <a:pPr algn="ctr">
              <a:defRPr sz="825" b="1">
                <a:solidFill>
                  <a:srgbClr val="20B486"/>
                </a:solidFill>
              </a:defRPr>
            </a:pPr>
            <a:r>
              <a:rPr sz="825" b="1">
                <a:solidFill>
                  <a:srgbClr val="20B486"/>
                </a:solidFill>
              </a:rPr>
              <a:t>0.09 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B1B5E0-F317-4109-8B9D-FE21369B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81350"/>
            <a:ext cx="1095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0B486"/>
                </a:solidFill>
              </a:defRPr>
            </a:pPr>
            <a:r>
              <a:rPr sz="825" b="1">
                <a:solidFill>
                  <a:srgbClr val="20B486"/>
                </a:solidFill>
              </a:rPr>
              <a:t>MSME-1101</a:t>
            </a:r>
          </a:p>
          <a:p xmlns:a="http://schemas.openxmlformats.org/drawingml/2006/main">
            <a:pPr algn="ctr">
              <a:defRPr sz="825" b="1">
                <a:solidFill>
                  <a:srgbClr val="20B486"/>
                </a:solidFill>
              </a:defRPr>
            </a:pPr>
            <a:r>
              <a:rPr sz="825" b="1">
                <a:solidFill>
                  <a:srgbClr val="20B486"/>
                </a:solidFill>
              </a:rPr>
              <a:t>0.06 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E1A37F-2D69-4165-BFE1-6F38FC6C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000375"/>
            <a:ext cx="1076325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B486"/>
          </a:solidFill>
          <a:ln xmlns:a="http://schemas.openxmlformats.org/drawingml/2006/main" w="0">
            <a:solidFill>
              <a:srgbClr val="20B48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B95DE1-BB81-4BBD-AE84-3969D185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000375"/>
            <a:ext cx="1076325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B486"/>
          </a:solidFill>
          <a:ln xmlns:a="http://schemas.openxmlformats.org/drawingml/2006/main" w="0">
            <a:solidFill>
              <a:srgbClr val="20B48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38B8E6-1E0C-4D36-A353-E42BDDC5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4762500" cy="1924050"/>
          </a:xfrm>
          <a:prstGeom xmlns:a="http://schemas.openxmlformats.org/drawingml/2006/main" prst="roundRect">
            <a:avLst>
              <a:gd name="adj" fmla="val 89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A68878-54D4-43FB-8DF9-2EBCE933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52875"/>
            <a:ext cx="314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830"/>
                </a:solidFill>
              </a:defRPr>
            </a:pPr>
            <a:r>
              <a:rPr sz="1275" b="1">
                <a:solidFill>
                  <a:srgbClr val="0B1830"/>
                </a:solidFill>
              </a:rPr>
              <a:t>Complex: layered green-bond proceeds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DB33A2-167F-4073-8D85-37480E92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95800"/>
            <a:ext cx="8382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3877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BF9244-AC67-469F-8B64-F7F0D2EB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95800"/>
            <a:ext cx="8763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FFB8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164ABC-768F-492A-A6C9-DB064239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495800"/>
            <a:ext cx="8382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E9E9"/>
          </a:solidFill>
          <a:ln xmlns:a="http://schemas.openxmlformats.org/drawingml/2006/main" w="9525">
            <a:solidFill>
              <a:srgbClr val="EF5B5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47137A-FFF4-463B-A417-E29AE34F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62475"/>
            <a:ext cx="838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877F0"/>
                </a:solidFill>
              </a:defRPr>
            </a:pPr>
            <a:r>
              <a:rPr sz="825" b="1">
                <a:solidFill>
                  <a:srgbClr val="3877F0"/>
                </a:solidFill>
              </a:rPr>
              <a:t>CORP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B13CCB-F93F-468D-A473-5785F55A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562475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B84D"/>
                </a:solidFill>
              </a:defRPr>
            </a:pPr>
            <a:r>
              <a:rPr sz="825" b="1">
                <a:solidFill>
                  <a:srgbClr val="FFB84D"/>
                </a:solidFill>
              </a:rPr>
              <a:t>MSME</a:t>
            </a:r>
          </a:p>
          <a:p xmlns:a="http://schemas.openxmlformats.org/drawingml/2006/main">
            <a:pPr algn="ctr">
              <a:defRPr sz="825" b="1">
                <a:solidFill>
                  <a:srgbClr val="FFB84D"/>
                </a:solidFill>
              </a:defRPr>
            </a:pPr>
            <a:r>
              <a:rPr sz="825" b="1">
                <a:solidFill>
                  <a:srgbClr val="FFB84D"/>
                </a:solidFill>
              </a:rPr>
              <a:t>MULE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F820EE-8E72-4CF0-A01B-21604A85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562475"/>
            <a:ext cx="838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F5B5B"/>
                </a:solidFill>
              </a:defRPr>
            </a:pPr>
            <a:r>
              <a:rPr sz="825" b="1">
                <a:solidFill>
                  <a:srgbClr val="EF5B5B"/>
                </a:solidFill>
              </a:rPr>
              <a:t>BANK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4CF8F6-D230-4FD2-9769-619B4A38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29150"/>
            <a:ext cx="32385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5B3C4"/>
          </a:solidFill>
          <a:ln xmlns:a="http://schemas.openxmlformats.org/drawingml/2006/main" w="0">
            <a:solidFill>
              <a:srgbClr val="A5B3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F8F229-D208-4940-A985-AAF63E93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629150"/>
            <a:ext cx="36195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5B3C4"/>
          </a:solidFill>
          <a:ln xmlns:a="http://schemas.openxmlformats.org/drawingml/2006/main" w="0">
            <a:solidFill>
              <a:srgbClr val="A5B3C4"/>
            </a:solidFill>
            <a:prstDash val="solid"/>
          </a:ln>
        </p:spPr>
      </p:sp>
      <p:cxnSp>
        <p:nvCxnSpPr>
          <p:cNvPr id="64" name=""/>
          <p:cNvCxnSpPr>
            <a:stCxn xmlns:a="http://schemas.openxmlformats.org/drawingml/2006/main" id="20" idx="2"/>
            <a:endCxn xmlns:a="http://schemas.openxmlformats.org/drawingml/2006/main" id="22" idx="2"/>
          </p:cNvCxnSpPr>
          <p:nvPr/>
        </p:nvCxnSpPr>
        <p:spPr>
          <a:xfrm xmlns:a="http://schemas.openxmlformats.org/drawingml/2006/main">
            <a:off x="1352550" y="4857750"/>
            <a:ext cx="2552700" cy="0"/>
          </a:xfrm>
          <a:prstGeom xmlns:a="http://schemas.openxmlformats.org/drawingml/2006/main" prst="curvedConnector2">
            <a:avLst/>
          </a:prstGeom>
          <a:ln xmlns:a="http://schemas.openxmlformats.org/drawingml/2006/main" w="19050">
            <a:solidFill>
              <a:srgbClr val="EF5B5B"/>
            </a:solidFill>
            <a:prstDash val="dash"/>
            <a:headEnd type="arrow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6FBD1B-1956-4A62-B8F8-DEB477F9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95875"/>
            <a:ext cx="423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F5B5B"/>
                </a:solidFill>
              </a:defRPr>
            </a:pPr>
            <a:r>
              <a:rPr sz="1050" b="1">
                <a:solidFill>
                  <a:srgbClr val="EF5B5B"/>
                </a:solidFill>
              </a:rPr>
              <a:t>100% pass-through in 24h  →  inferred confidence 0.791  →  High risk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EAA728-C679-43CE-8B66-5D6F84A3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200275"/>
            <a:ext cx="5648325" cy="3495675"/>
          </a:xfrm>
          <a:prstGeom xmlns:a="http://schemas.openxmlformats.org/drawingml/2006/main" prst="roundRect">
            <a:avLst>
              <a:gd name="adj" fmla="val 4905"/>
            </a:avLst>
          </a:prstGeom>
          <a:solidFill xmlns:a="http://schemas.openxmlformats.org/drawingml/2006/main">
            <a:srgbClr val="071B33"/>
          </a:solidFill>
          <a:ln xmlns:a="http://schemas.openxmlformats.org/drawingml/2006/main" w="9525">
            <a:solidFill>
              <a:srgbClr val="071B3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EBE1D6-94D9-42E8-84F5-C783EEE0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447925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F227"/>
                </a:solidFill>
              </a:defRPr>
            </a:pPr>
            <a:r>
              <a:rPr sz="900" b="1">
                <a:solidFill>
                  <a:srgbClr val="B9F227"/>
                </a:solidFill>
              </a:rPr>
              <a:t>EXPLAINABLE SCORING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1E39C0-B119-4029-843E-FA590D35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800350"/>
            <a:ext cx="2000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DIRECT EDGE RISK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2D5866-49C2-4346-9995-0F3C2E0B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086100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E3F4"/>
                </a:solidFill>
              </a:defRPr>
            </a:pPr>
            <a:r>
              <a:rPr sz="1200" b="1">
                <a:solidFill>
                  <a:srgbClr val="D7E3F4"/>
                </a:solidFill>
              </a:rPr>
              <a:t>min(1.0, 0.35 cycle + 0.20 address +</a:t>
            </a:r>
          </a:p>
          <a:p xmlns:a="http://schemas.openxmlformats.org/drawingml/2006/main">
            <a:pPr algn="l">
              <a:defRPr sz="1200" b="1">
                <a:solidFill>
                  <a:srgbClr val="D7E3F4"/>
                </a:solidFill>
              </a:defRPr>
            </a:pPr>
            <a:r>
              <a:rPr sz="1200" b="1">
                <a:solidFill>
                  <a:srgbClr val="D7E3F4"/>
                </a:solidFill>
              </a:rPr>
              <a:t>0.25 exclusion + 0.15 pass-through + 0.15 type)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406304-0BC5-4273-BAEC-D3428D06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867150"/>
            <a:ext cx="27146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INFERRED 2-HOP CONFIDENCE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3B42CD-2C03-4B13-8D05-5F1CE677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162425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E3F4"/>
                </a:solidFill>
              </a:defRPr>
            </a:pPr>
            <a:r>
              <a:rPr sz="1200" b="1">
                <a:solidFill>
                  <a:srgbClr val="D7E3F4"/>
                </a:solidFill>
              </a:rPr>
              <a:t>min(1.0, ratio × 0.45 + timing + hop + mule + identifier match)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B29EE99-3BCE-409A-922D-F0DC865F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85775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9F227"/>
                </a:solidFill>
              </a:defRPr>
            </a:pPr>
            <a:r>
              <a:rPr sz="975" b="1">
                <a:solidFill>
                  <a:srgbClr val="B9F227"/>
                </a:solidFill>
              </a:rPr>
              <a:t>0.00-0.29  Low   ·   0.30-0.59  Monitor   ·   0.60-0.74  EDD   ·   0.75+  Investigate / SAR</a:t>
            </a:r>
          </a:p>
        </p:txBody>
      </p:sp>
    </p:spTree>
    <p:extLst>
      <p:ext uri="{BB962C8B-B14F-4D97-AF65-F5344CB8AC3E}">
        <p14:creationId xmlns:p14="http://schemas.microsoft.com/office/powerpoint/2010/main" val="19865426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01251A-0A82-41E5-B5D7-8005FE3B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B486"/>
                </a:solidFill>
              </a:defRPr>
            </a:pPr>
            <a:r>
              <a:rPr sz="900" b="1">
                <a:solidFill>
                  <a:srgbClr val="20B486"/>
                </a:solidFill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8A37A7-5AC1-456A-AC3E-B27F20EC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1830"/>
                </a:solidFill>
              </a:defRPr>
            </a:pPr>
            <a:r>
              <a:rPr sz="2475" b="1">
                <a:solidFill>
                  <a:srgbClr val="0B1830"/>
                </a:solidFill>
              </a:rPr>
              <a:t>A modular architecture keeps graph analytics fast and auditable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994432-8987-445D-BD5D-7E664411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4"/>
                </a:solidFill>
              </a:defRPr>
            </a:pPr>
            <a:r>
              <a:rPr sz="1200" b="0">
                <a:solidFill>
                  <a:srgbClr val="526174"/>
                </a:solidFill>
              </a:rPr>
              <a:t>The source design separates ingestion, analysis and investigator action.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385BD9-74D4-428A-9238-95860228E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2996F8-5D32-44BC-A36A-2F70F4EB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26174"/>
                </a:solidFill>
              </a:defRPr>
            </a:pPr>
            <a:r>
              <a:rPr sz="750" b="1">
                <a:solidFill>
                  <a:srgbClr val="526174"/>
                </a:solidFill>
              </a:rPr>
              <a:t>ARGUS AML  |  GREEN FINANCING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8310A2-3E6B-4F5B-9E47-CD1576EF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24625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174"/>
                </a:solidFill>
              </a:defRPr>
            </a:pPr>
            <a:r>
              <a:rPr sz="825" b="0">
                <a:solidFill>
                  <a:srgbClr val="526174"/>
                </a:solidFill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06564E-6254-469F-8F84-BB57F417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2333625" cy="1857375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455A42-F096-4C7F-8858-CF2019B0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2333625" cy="419100"/>
          </a:xfrm>
          <a:prstGeom xmlns:a="http://schemas.openxmlformats.org/drawingml/2006/main" prst="roundRect">
            <a:avLst>
              <a:gd name="adj" fmla="val 40909"/>
            </a:avLst>
          </a:prstGeom>
          <a:solidFill xmlns:a="http://schemas.openxmlformats.org/drawingml/2006/main">
            <a:srgbClr val="3877F0"/>
          </a:solidFill>
          <a:ln xmlns:a="http://schemas.openxmlformats.org/drawingml/2006/main" w="9525">
            <a:solidFill>
              <a:srgbClr val="3877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B681BE-4717-4E8A-B82E-50B9C9C8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1990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DATA INTAKE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10F3FA-04A5-4CE8-8600-5D0EC835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38475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830"/>
                </a:solidFill>
              </a:defRPr>
            </a:pPr>
            <a:r>
              <a:rPr sz="1125" b="1">
                <a:solidFill>
                  <a:srgbClr val="0B1830"/>
                </a:solidFill>
              </a:rPr>
              <a:t>Monthly JSON / event streams</a:t>
            </a:r>
          </a:p>
          <a:p xmlns:a="http://schemas.openxmlformats.org/drawingml/2006/main">
            <a:pPr algn="ctr">
              <a:defRPr sz="1125" b="1">
                <a:solidFill>
                  <a:srgbClr val="0B1830"/>
                </a:solidFill>
              </a:defRPr>
            </a:pPr>
            <a:r>
              <a:rPr sz="1125" b="1">
                <a:solidFill>
                  <a:srgbClr val="0B1830"/>
                </a:solidFill>
              </a:rPr>
              <a:t>Transactions · KYC · watchlists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F6FD50-34F8-46C6-B3D9-E81FA45A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1952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26174"/>
                </a:solidFill>
              </a:defRPr>
            </a:pPr>
            <a:r>
              <a:rPr sz="900" b="0">
                <a:solidFill>
                  <a:srgbClr val="526174"/>
                </a:solidFill>
              </a:rPr>
              <a:t>Raw + enriched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8A8A1E-A60D-41D4-8132-70447C84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00300"/>
            <a:ext cx="2333625" cy="1857375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6045F4-52CD-4AE8-A240-F97C2481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00300"/>
            <a:ext cx="2333625" cy="419100"/>
          </a:xfrm>
          <a:prstGeom xmlns:a="http://schemas.openxmlformats.org/drawingml/2006/main" prst="roundRect">
            <a:avLst>
              <a:gd name="adj" fmla="val 40909"/>
            </a:avLst>
          </a:prstGeom>
          <a:solidFill xmlns:a="http://schemas.openxmlformats.org/drawingml/2006/main">
            <a:srgbClr val="20B486"/>
          </a:solidFill>
          <a:ln xmlns:a="http://schemas.openxmlformats.org/drawingml/2006/main" w="9525">
            <a:solidFill>
              <a:srgbClr val="20B48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D219BA-A3C2-4731-B9AB-8E331865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52700"/>
            <a:ext cx="1990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SCENARIO GENERATION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37262F-9FDB-4DF5-BE03-209F438D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38475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830"/>
                </a:solidFill>
              </a:defRPr>
            </a:pPr>
            <a:r>
              <a:rPr sz="1125" b="1">
                <a:solidFill>
                  <a:srgbClr val="0B1830"/>
                </a:solidFill>
              </a:rPr>
              <a:t>Cluster disconnected components</a:t>
            </a:r>
          </a:p>
          <a:p xmlns:a="http://schemas.openxmlformats.org/drawingml/2006/main">
            <a:pPr algn="ctr">
              <a:defRPr sz="1125" b="1">
                <a:solidFill>
                  <a:srgbClr val="0B1830"/>
                </a:solidFill>
              </a:defRPr>
            </a:pPr>
            <a:r>
              <a:rPr sz="1125" b="1">
                <a:solidFill>
                  <a:srgbClr val="0B1830"/>
                </a:solidFill>
              </a:rPr>
              <a:t>Create bounded investigation graphs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A97CA3-308F-42D2-90EE-16B1945D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29050"/>
            <a:ext cx="1952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26174"/>
                </a:solidFill>
              </a:defRPr>
            </a:pPr>
            <a:r>
              <a:rPr sz="900" b="0">
                <a:solidFill>
                  <a:srgbClr val="526174"/>
                </a:solidFill>
              </a:rPr>
              <a:t>Focused scenarios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D13F9A-667D-462D-8E13-265BB503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00300"/>
            <a:ext cx="2333625" cy="1857375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18E525-1059-40CE-A6B7-4756E80E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00300"/>
            <a:ext cx="2333625" cy="419100"/>
          </a:xfrm>
          <a:prstGeom xmlns:a="http://schemas.openxmlformats.org/drawingml/2006/main" prst="roundRect">
            <a:avLst>
              <a:gd name="adj" fmla="val 40909"/>
            </a:avLst>
          </a:prstGeom>
          <a:solidFill xmlns:a="http://schemas.openxmlformats.org/drawingml/2006/main">
            <a:srgbClr val="FFB84D"/>
          </a:solidFill>
          <a:ln xmlns:a="http://schemas.openxmlformats.org/drawingml/2006/main" w="9525">
            <a:solidFill>
              <a:srgbClr val="FFB8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1D28C2-92D2-437D-9E6B-DAEAF90A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52700"/>
            <a:ext cx="1990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FASTAPI ANALYTICS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5FA070-04C5-4558-B68C-2061AFCA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38475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830"/>
                </a:solidFill>
              </a:defRPr>
            </a:pPr>
            <a:r>
              <a:rPr sz="1125" b="1">
                <a:solidFill>
                  <a:srgbClr val="0B1830"/>
                </a:solidFill>
              </a:rPr>
              <a:t>Graph traversal · 2-hop inference</a:t>
            </a:r>
          </a:p>
          <a:p xmlns:a="http://schemas.openxmlformats.org/drawingml/2006/main">
            <a:pPr algn="ctr">
              <a:defRPr sz="1125" b="1">
                <a:solidFill>
                  <a:srgbClr val="0B1830"/>
                </a:solidFill>
              </a:defRPr>
            </a:pPr>
            <a:r>
              <a:rPr sz="1125" b="1">
                <a:solidFill>
                  <a:srgbClr val="0B1830"/>
                </a:solidFill>
              </a:rPr>
              <a:t>Signals · role analysis · scoring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672F4F-8A3A-42D5-977B-0E7486BD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29050"/>
            <a:ext cx="1952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26174"/>
                </a:solidFill>
              </a:defRPr>
            </a:pPr>
            <a:r>
              <a:rPr sz="900" b="0">
                <a:solidFill>
                  <a:srgbClr val="526174"/>
                </a:solidFill>
              </a:rPr>
              <a:t>Explainable 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B19127-DE6B-4F9C-BC98-98AC1DC1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00300"/>
            <a:ext cx="2333625" cy="1857375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A14A24-7E16-45A9-91C8-C513EC69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00300"/>
            <a:ext cx="2333625" cy="419100"/>
          </a:xfrm>
          <a:prstGeom xmlns:a="http://schemas.openxmlformats.org/drawingml/2006/main" prst="roundRect">
            <a:avLst>
              <a:gd name="adj" fmla="val 40909"/>
            </a:avLst>
          </a:prstGeom>
          <a:solidFill xmlns:a="http://schemas.openxmlformats.org/drawingml/2006/main">
            <a:srgbClr val="EF5B5B"/>
          </a:solidFill>
          <a:ln xmlns:a="http://schemas.openxmlformats.org/drawingml/2006/main" w="9525">
            <a:solidFill>
              <a:srgbClr val="EF5B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420DBF-C4A1-4104-A8C3-9F898505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52700"/>
            <a:ext cx="1990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REACT INVESTIGATOR WORKSPACE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32FC20-CFBD-4486-B04D-8690FF2C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38475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830"/>
                </a:solidFill>
              </a:defRPr>
            </a:pPr>
            <a:r>
              <a:rPr sz="1125" b="1">
                <a:solidFill>
                  <a:srgbClr val="0B1830"/>
                </a:solidFill>
              </a:rPr>
              <a:t>Interactive network · scorecards</a:t>
            </a:r>
          </a:p>
          <a:p xmlns:a="http://schemas.openxmlformats.org/drawingml/2006/main">
            <a:pPr algn="ctr">
              <a:defRPr sz="1125" b="1">
                <a:solidFill>
                  <a:srgbClr val="0B1830"/>
                </a:solidFill>
              </a:defRPr>
            </a:pPr>
            <a:r>
              <a:rPr sz="1125" b="1">
                <a:solidFill>
                  <a:srgbClr val="0B1830"/>
                </a:solidFill>
              </a:rPr>
              <a:t>Case decision · SAR evidence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E47C47-DCE0-4174-8F1E-CE7F5382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29050"/>
            <a:ext cx="1952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26174"/>
                </a:solidFill>
              </a:defRPr>
            </a:pPr>
            <a:r>
              <a:rPr sz="900" b="0">
                <a:solidFill>
                  <a:srgbClr val="526174"/>
                </a:solidFill>
              </a:rPr>
              <a:t>Human decision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712E81-D5F3-4294-9C96-2454F29D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281363"/>
            <a:ext cx="314325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5B3C4"/>
          </a:solidFill>
          <a:ln xmlns:a="http://schemas.openxmlformats.org/drawingml/2006/main" w="0">
            <a:solidFill>
              <a:srgbClr val="A5B3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327617-968A-4DAE-AA2C-1C4893B8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281363"/>
            <a:ext cx="314325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5B3C4"/>
          </a:solidFill>
          <a:ln xmlns:a="http://schemas.openxmlformats.org/drawingml/2006/main" w="0">
            <a:solidFill>
              <a:srgbClr val="A5B3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0DFA14-0151-4EC2-BD5E-F5966943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281363"/>
            <a:ext cx="314325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5B3C4"/>
          </a:solidFill>
          <a:ln xmlns:a="http://schemas.openxmlformats.org/drawingml/2006/main" w="0">
            <a:solidFill>
              <a:srgbClr val="A5B3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1116C1-B56B-4F88-A372-6753816E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830"/>
                </a:solidFill>
              </a:defRPr>
            </a:pPr>
            <a:r>
              <a:rPr sz="1200" b="1">
                <a:solidFill>
                  <a:srgbClr val="0B1830"/>
                </a:solidFill>
              </a:rPr>
              <a:t>API surface: scenarios · analysis · relationship matrices · SAR package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0CE71E-C2F6-4550-95ED-4C9DA5C1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286375"/>
            <a:ext cx="2381250" cy="276225"/>
          </a:xfrm>
          <a:prstGeom xmlns:a="http://schemas.openxmlformats.org/drawingml/2006/main" prst="roundRect">
            <a:avLst>
              <a:gd name="adj" fmla="val 48276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0D25AB-9633-4B6E-922D-1A49D021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5353050"/>
            <a:ext cx="2209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877F0"/>
                </a:solidFill>
              </a:defRPr>
            </a:pPr>
            <a:r>
              <a:rPr sz="825" b="1">
                <a:solidFill>
                  <a:srgbClr val="3877F0"/>
                </a:solidFill>
              </a:rPr>
              <a:t>SOLID = DOCUMENTED TRANSFER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972921-D9AA-4472-80C3-40C1F0A2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86375"/>
            <a:ext cx="3000375" cy="276225"/>
          </a:xfrm>
          <a:prstGeom xmlns:a="http://schemas.openxmlformats.org/drawingml/2006/main" prst="roundRect">
            <a:avLst>
              <a:gd name="adj" fmla="val 48276"/>
            </a:avLst>
          </a:prstGeom>
          <a:solidFill xmlns:a="http://schemas.openxmlformats.org/drawingml/2006/main">
            <a:srgbClr val="FFE9E9"/>
          </a:solidFill>
          <a:ln xmlns:a="http://schemas.openxmlformats.org/drawingml/2006/main" w="9525">
            <a:solidFill>
              <a:srgbClr val="FFE9E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E51E7C-13EF-403F-97AA-7B9DC90E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5353050"/>
            <a:ext cx="28289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F5B5B"/>
                </a:solidFill>
              </a:defRPr>
            </a:pPr>
            <a:r>
              <a:rPr sz="825" b="1">
                <a:solidFill>
                  <a:srgbClr val="EF5B5B"/>
                </a:solidFill>
              </a:rPr>
              <a:t>DOTTED = INFERRED 2-HOP RELATIONSHIP</a:t>
            </a:r>
          </a:p>
        </p:txBody>
      </p:sp>
    </p:spTree>
    <p:extLst>
      <p:ext uri="{BB962C8B-B14F-4D97-AF65-F5344CB8AC3E}">
        <p14:creationId xmlns:p14="http://schemas.microsoft.com/office/powerpoint/2010/main" val="5830902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F13BF6-0689-488E-B3A6-CC0DA838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B486"/>
                </a:solidFill>
              </a:defRPr>
            </a:pPr>
            <a:r>
              <a:rPr sz="900" b="1">
                <a:solidFill>
                  <a:srgbClr val="20B486"/>
                </a:solidFill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45971D-3C2A-4743-A7B2-E5C311D3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1830"/>
                </a:solidFill>
              </a:defRPr>
            </a:pPr>
            <a:r>
              <a:rPr sz="2475" b="1">
                <a:solidFill>
                  <a:srgbClr val="0B1830"/>
                </a:solidFill>
              </a:rPr>
              <a:t>The live demo moves from raw events to an actionable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3CBB57-EDFD-4FF1-BE0C-3AD68A26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4"/>
                </a:solidFill>
              </a:defRPr>
            </a:pPr>
            <a:r>
              <a:rPr sz="1200" b="0">
                <a:solidFill>
                  <a:srgbClr val="526174"/>
                </a:solidFill>
              </a:rPr>
              <a:t>A six-step walkthrough makes the product value visible in under two minutes.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976F89-B08B-4FF1-B99E-06F193F3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2885CD-C621-4165-9531-A7A1A1DB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26174"/>
                </a:solidFill>
              </a:defRPr>
            </a:pPr>
            <a:r>
              <a:rPr sz="750" b="1">
                <a:solidFill>
                  <a:srgbClr val="526174"/>
                </a:solidFill>
              </a:rPr>
              <a:t>ARGUS AML  |  GREEN FINANCING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3C597D-1AE2-4573-9161-049AB021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24625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174"/>
                </a:solidFill>
              </a:defRPr>
            </a:pPr>
            <a:r>
              <a:rPr sz="825" b="0">
                <a:solidFill>
                  <a:srgbClr val="526174"/>
                </a:solidFill>
              </a:rPr>
              <a:t>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F979EC-0B3D-4C9E-8A29-0ED52B0A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1466850" cy="160020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CD30A8-D1F0-4A88-9A8C-C4CCA88F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828925"/>
            <a:ext cx="266700" cy="2762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77F0">
              <a:alpha val="13333"/>
            </a:srgbClr>
          </a:solidFill>
          <a:ln xmlns:a="http://schemas.openxmlformats.org/drawingml/2006/main" w="9525">
            <a:solidFill>
              <a:srgbClr val="3877F0">
                <a:alpha val="13333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ECE02F-C76E-47CA-A604-9EE9C4C6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95600"/>
            <a:ext cx="95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877F0"/>
                </a:solidFill>
              </a:defRPr>
            </a:pPr>
            <a:r>
              <a:rPr sz="825" b="1">
                <a:solidFill>
                  <a:srgbClr val="3877F0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BEA0C9-C792-49B1-BC33-84D06FC3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238500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830"/>
                </a:solidFill>
              </a:defRPr>
            </a:pPr>
            <a:r>
              <a:rPr sz="1125" b="1">
                <a:solidFill>
                  <a:srgbClr val="0B1830"/>
                </a:solidFill>
              </a:rPr>
              <a:t>Select scenario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D670BB-7FF1-4ED1-A948-05034562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667125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74"/>
                </a:solidFill>
              </a:defRPr>
            </a:pPr>
            <a:r>
              <a:rPr sz="900" b="0">
                <a:solidFill>
                  <a:srgbClr val="526174"/>
                </a:solidFill>
              </a:rPr>
              <a:t>Green financing batch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5A2941-F38E-4312-9CD1-42C565A0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638425"/>
            <a:ext cx="1466850" cy="160020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B260B1-2BEC-403F-9A6F-0DEB4248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828925"/>
            <a:ext cx="266700" cy="2762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B486">
              <a:alpha val="13333"/>
            </a:srgbClr>
          </a:solidFill>
          <a:ln xmlns:a="http://schemas.openxmlformats.org/drawingml/2006/main" w="9525">
            <a:solidFill>
              <a:srgbClr val="20B486">
                <a:alpha val="13333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58FA35-0DAE-4497-AA8F-B0154BFD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895600"/>
            <a:ext cx="95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0B486"/>
                </a:solidFill>
              </a:defRPr>
            </a:pPr>
            <a:r>
              <a:rPr sz="825" b="1">
                <a:solidFill>
                  <a:srgbClr val="20B486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36040D-B635-4F5B-8088-7CD23E20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238500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830"/>
                </a:solidFill>
              </a:defRPr>
            </a:pPr>
            <a:r>
              <a:rPr sz="1125" b="1">
                <a:solidFill>
                  <a:srgbClr val="0B1830"/>
                </a:solidFill>
              </a:rPr>
              <a:t>Build graph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0B5EED-8B4B-47AA-AAB2-0E2AA812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667125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74"/>
                </a:solidFill>
              </a:defRPr>
            </a:pPr>
            <a:r>
              <a:rPr sz="900" b="0">
                <a:solidFill>
                  <a:srgbClr val="526174"/>
                </a:solidFill>
              </a:rPr>
              <a:t>Nodes + direct transfers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27E91C-8F98-441F-BB8C-0DE0BE29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38425"/>
            <a:ext cx="1466850" cy="160020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E86434-657D-4C03-9FD2-839EDE43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828925"/>
            <a:ext cx="266700" cy="2762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84D">
              <a:alpha val="13333"/>
            </a:srgbClr>
          </a:solidFill>
          <a:ln xmlns:a="http://schemas.openxmlformats.org/drawingml/2006/main" w="9525">
            <a:solidFill>
              <a:srgbClr val="FFB84D">
                <a:alpha val="13333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ABCAC9-9C1B-4EC3-8CB7-17A2974A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95600"/>
            <a:ext cx="95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B84D"/>
                </a:solidFill>
              </a:defRPr>
            </a:pPr>
            <a:r>
              <a:rPr sz="825" b="1">
                <a:solidFill>
                  <a:srgbClr val="FFB84D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EBF046-BA87-4AE3-BC43-7CB13870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238500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830"/>
                </a:solidFill>
              </a:defRPr>
            </a:pPr>
            <a:r>
              <a:rPr sz="1125" b="1">
                <a:solidFill>
                  <a:srgbClr val="0B1830"/>
                </a:solidFill>
              </a:rPr>
              <a:t>Trace 2-hop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325928-5D9C-4A56-815D-F288024D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667125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74"/>
                </a:solidFill>
              </a:defRPr>
            </a:pPr>
            <a:r>
              <a:rPr sz="900" b="0">
                <a:solidFill>
                  <a:srgbClr val="526174"/>
                </a:solidFill>
              </a:rPr>
              <a:t>Pass-through candidates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7B5570-8730-41D1-AED8-056115EB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38425"/>
            <a:ext cx="1466850" cy="160020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779CD2-C304-4657-8DCF-69C26017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828925"/>
            <a:ext cx="266700" cy="2762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5B5B">
              <a:alpha val="13333"/>
            </a:srgbClr>
          </a:solidFill>
          <a:ln xmlns:a="http://schemas.openxmlformats.org/drawingml/2006/main" w="9525">
            <a:solidFill>
              <a:srgbClr val="EF5B5B">
                <a:alpha val="13333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6B99C6-0A05-4F9A-A152-97F43895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95600"/>
            <a:ext cx="95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F5B5B"/>
                </a:solidFill>
              </a:defRPr>
            </a:pPr>
            <a:r>
              <a:rPr sz="825" b="1">
                <a:solidFill>
                  <a:srgbClr val="EF5B5B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8A39BE-F368-49BE-BBB4-DCD5BD8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238500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830"/>
                </a:solidFill>
              </a:defRPr>
            </a:pPr>
            <a:r>
              <a:rPr sz="1125" b="1">
                <a:solidFill>
                  <a:srgbClr val="0B1830"/>
                </a:solidFill>
              </a:rPr>
              <a:t>Score evidence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B2DD3E-6FD2-4491-B730-96CB488E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667125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74"/>
                </a:solidFill>
              </a:defRPr>
            </a:pPr>
            <a:r>
              <a:rPr sz="900" b="0">
                <a:solidFill>
                  <a:srgbClr val="526174"/>
                </a:solidFill>
              </a:rPr>
              <a:t>Risk + confidence factors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5B8C42-E064-4549-9116-5A8B7829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38425"/>
            <a:ext cx="1466850" cy="160020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A8239E-4D10-494E-B92A-756094F0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828925"/>
            <a:ext cx="266700" cy="2762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77F0">
              <a:alpha val="13333"/>
            </a:srgbClr>
          </a:solidFill>
          <a:ln xmlns:a="http://schemas.openxmlformats.org/drawingml/2006/main" w="9525">
            <a:solidFill>
              <a:srgbClr val="3877F0">
                <a:alpha val="13333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F5BCC1-3581-4C93-AA80-08D87F64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95600"/>
            <a:ext cx="95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877F0"/>
                </a:solidFill>
              </a:defRPr>
            </a:pPr>
            <a:r>
              <a:rPr sz="825" b="1">
                <a:solidFill>
                  <a:srgbClr val="3877F0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D746A3-DEFF-4419-8595-BB73F19D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238500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830"/>
                </a:solidFill>
              </a:defRPr>
            </a:pPr>
            <a:r>
              <a:rPr sz="1125" b="1">
                <a:solidFill>
                  <a:srgbClr val="0B1830"/>
                </a:solidFill>
              </a:rPr>
              <a:t>Review alert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C2203D-A28E-41C1-B553-B3B76263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667125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74"/>
                </a:solidFill>
              </a:defRPr>
            </a:pPr>
            <a:r>
              <a:rPr sz="900" b="0">
                <a:solidFill>
                  <a:srgbClr val="526174"/>
                </a:solidFill>
              </a:rPr>
              <a:t>Graph + scorecard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41F0B6-6608-4202-80FC-B8803E4C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638425"/>
            <a:ext cx="1466850" cy="160020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B90211-0E15-4D9E-95AC-EE7B3731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828925"/>
            <a:ext cx="266700" cy="2762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B486">
              <a:alpha val="13333"/>
            </a:srgbClr>
          </a:solidFill>
          <a:ln xmlns:a="http://schemas.openxmlformats.org/drawingml/2006/main" w="9525">
            <a:solidFill>
              <a:srgbClr val="20B486">
                <a:alpha val="13333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5B9472-8399-403C-9FC7-DDF24D7F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895600"/>
            <a:ext cx="95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0B486"/>
                </a:solidFill>
              </a:defRPr>
            </a:pPr>
            <a:r>
              <a:rPr sz="825" b="1">
                <a:solidFill>
                  <a:srgbClr val="20B486"/>
                </a:solidFill>
              </a:rPr>
              <a:t>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FA5E12-17EA-45ED-A514-90D5753F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3238500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830"/>
                </a:solidFill>
              </a:defRPr>
            </a:pPr>
            <a:r>
              <a:rPr sz="1125" b="1">
                <a:solidFill>
                  <a:srgbClr val="0B1830"/>
                </a:solidFill>
              </a:rPr>
              <a:t>Decide output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415690A-0952-4FA7-977C-B07B448F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3667125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74"/>
                </a:solidFill>
              </a:defRPr>
            </a:pPr>
            <a:r>
              <a:rPr sz="900" b="0">
                <a:solidFill>
                  <a:srgbClr val="526174"/>
                </a:solidFill>
              </a:rPr>
              <a:t>Dismiss · EDD · SAR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0D3D95-AE82-4F85-B632-53E7F0DB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390900"/>
            <a:ext cx="2667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5B3C4"/>
          </a:solidFill>
          <a:ln xmlns:a="http://schemas.openxmlformats.org/drawingml/2006/main" w="0">
            <a:solidFill>
              <a:srgbClr val="A5B3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496B133-E84D-4BBE-881E-8AB826B84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90900"/>
            <a:ext cx="2667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5B3C4"/>
          </a:solidFill>
          <a:ln xmlns:a="http://schemas.openxmlformats.org/drawingml/2006/main" w="0">
            <a:solidFill>
              <a:srgbClr val="A5B3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12410B4-7034-421B-B5F9-034A3903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90900"/>
            <a:ext cx="2667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5B3C4"/>
          </a:solidFill>
          <a:ln xmlns:a="http://schemas.openxmlformats.org/drawingml/2006/main" w="0">
            <a:solidFill>
              <a:srgbClr val="A5B3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A5B88E3-AF95-49D8-B9C1-F1A7AFE2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90900"/>
            <a:ext cx="2667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5B3C4"/>
          </a:solidFill>
          <a:ln xmlns:a="http://schemas.openxmlformats.org/drawingml/2006/main" w="0">
            <a:solidFill>
              <a:srgbClr val="A5B3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9BA3593-A5D0-4357-8349-F5153512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90900"/>
            <a:ext cx="2667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5B3C4"/>
          </a:solidFill>
          <a:ln xmlns:a="http://schemas.openxmlformats.org/drawingml/2006/main" w="0">
            <a:solidFill>
              <a:srgbClr val="A5B3C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F866452-C102-4F34-846C-EE8FEF66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972050"/>
            <a:ext cx="803910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071B33"/>
          </a:solidFill>
          <a:ln xmlns:a="http://schemas.openxmlformats.org/drawingml/2006/main" w="9525">
            <a:solidFill>
              <a:srgbClr val="071B3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F10725D-AB4A-44BC-B050-973B51ED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153025"/>
            <a:ext cx="7572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Judge moment: reveal the dotted inferred edge, the score breakdown, then the evidence-backed escalation.</a:t>
            </a:r>
          </a:p>
        </p:txBody>
      </p:sp>
    </p:spTree>
    <p:extLst>
      <p:ext uri="{BB962C8B-B14F-4D97-AF65-F5344CB8AC3E}">
        <p14:creationId xmlns:p14="http://schemas.microsoft.com/office/powerpoint/2010/main" val="17929317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136E00-6DD3-4CC8-998B-C3B2AA05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B486"/>
                </a:solidFill>
              </a:defRPr>
            </a:pPr>
            <a:r>
              <a:rPr sz="900" b="1">
                <a:solidFill>
                  <a:srgbClr val="20B486"/>
                </a:solidFill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EC80EC-30DF-43C8-9416-DE060CFF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1830"/>
                </a:solidFill>
              </a:defRPr>
            </a:pPr>
            <a:r>
              <a:rPr sz="2475" b="1">
                <a:solidFill>
                  <a:srgbClr val="0B1830"/>
                </a:solidFill>
              </a:rPr>
              <a:t>Enterprise-ready by design: scalable, governed and observable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3D0400-2EF0-4DBF-B518-74BB8522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4"/>
                </a:solidFill>
              </a:defRPr>
            </a:pPr>
            <a:r>
              <a:rPr sz="1200" b="0">
                <a:solidFill>
                  <a:srgbClr val="526174"/>
                </a:solidFill>
              </a:rPr>
              <a:t>A production path evolves the prototype without sacrificing explainability or human control.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7C104E-1978-447B-8961-B39A3800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41119-877E-4FB7-BF25-1DB9EE02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26174"/>
                </a:solidFill>
              </a:defRPr>
            </a:pPr>
            <a:r>
              <a:rPr sz="750" b="1">
                <a:solidFill>
                  <a:srgbClr val="526174"/>
                </a:solidFill>
              </a:rPr>
              <a:t>ARGUS AML  |  GREEN FINANCING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42D384-FED2-4DAA-A31B-F218BE53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24625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174"/>
                </a:solidFill>
              </a:defRPr>
            </a:pPr>
            <a:r>
              <a:rPr sz="825" b="0">
                <a:solidFill>
                  <a:srgbClr val="526174"/>
                </a:solidFill>
              </a:rPr>
              <a:t>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EE0496-F667-412D-B8C1-207A75E1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3295650" cy="3381375"/>
          </a:xfrm>
          <a:prstGeom xmlns:a="http://schemas.openxmlformats.org/drawingml/2006/main" prst="roundRect">
            <a:avLst>
              <a:gd name="adj" fmla="val 52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77312D-82EE-4E70-B640-1F492D36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3295650" cy="504825"/>
          </a:xfrm>
          <a:prstGeom xmlns:a="http://schemas.openxmlformats.org/drawingml/2006/main" prst="roundRect">
            <a:avLst>
              <a:gd name="adj" fmla="val 33962"/>
            </a:avLst>
          </a:prstGeom>
          <a:solidFill xmlns:a="http://schemas.openxmlformats.org/drawingml/2006/main">
            <a:srgbClr val="20B486"/>
          </a:solidFill>
          <a:ln xmlns:a="http://schemas.openxmlformats.org/drawingml/2006/main" w="9525">
            <a:solidFill>
              <a:srgbClr val="20B48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941CFA-2F97-4F96-8A59-39CD6BAA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SCALE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BB3E3E-E992-4EF9-BB92-DECD974B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38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486"/>
          </a:solidFill>
          <a:ln xmlns:a="http://schemas.openxmlformats.org/drawingml/2006/main" w="0">
            <a:solidFill>
              <a:srgbClr val="20B48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C542DA-BBB7-4E6C-8E4F-68AA21D1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62250"/>
            <a:ext cx="2609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62AC92-81E7-4063-A28F-CBC7855B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81325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4"/>
                </a:solidFill>
              </a:defRPr>
            </a:pPr>
            <a:r>
              <a:rPr sz="1050" b="0">
                <a:solidFill>
                  <a:srgbClr val="526174"/>
                </a:solidFill>
              </a:rPr>
              <a:t>Pub/Sub + Dataflow for stream ingestion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8AE3D6-A28C-4472-A434-CA6C5014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486"/>
          </a:solidFill>
          <a:ln xmlns:a="http://schemas.openxmlformats.org/drawingml/2006/main" w="0">
            <a:solidFill>
              <a:srgbClr val="20B48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C2574B-42DC-4089-95C3-33D8F013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52800"/>
            <a:ext cx="2609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0A003C-0E76-4BB5-8690-63435E736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71875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4"/>
                </a:solidFill>
              </a:defRPr>
            </a:pPr>
            <a:r>
              <a:rPr sz="1050" b="0">
                <a:solidFill>
                  <a:srgbClr val="526174"/>
                </a:solidFill>
              </a:rPr>
              <a:t>Cloud Run workers with retries / backpressure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E73714-AD7E-4091-AF49-E04446D8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9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486"/>
          </a:solidFill>
          <a:ln xmlns:a="http://schemas.openxmlformats.org/drawingml/2006/main" w="0">
            <a:solidFill>
              <a:srgbClr val="20B48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DFDE2F-7E37-4AAE-B384-D3256A5E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43350"/>
            <a:ext cx="2609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C4950B-132C-4DCD-9FE4-819EC084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62425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4"/>
                </a:solidFill>
              </a:defRPr>
            </a:pPr>
            <a:r>
              <a:rPr sz="1050" b="0">
                <a:solidFill>
                  <a:srgbClr val="526174"/>
                </a:solidFill>
              </a:rPr>
              <a:t>Bigtable for low-latency graph expansion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C90F7A-11AC-446C-A970-9D56E9BC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486"/>
          </a:solidFill>
          <a:ln xmlns:a="http://schemas.openxmlformats.org/drawingml/2006/main" w="0">
            <a:solidFill>
              <a:srgbClr val="20B48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1318A6-FE48-473F-A4EF-0181B9E8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33900"/>
            <a:ext cx="2609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19366C-EB3B-4C16-BF1D-AAFCE154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52975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4"/>
                </a:solidFill>
              </a:defRPr>
            </a:pPr>
            <a:r>
              <a:rPr sz="1050" b="0">
                <a:solidFill>
                  <a:srgbClr val="526174"/>
                </a:solidFill>
              </a:rPr>
              <a:t>Dataproc for heavy offline graph analytics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73C103-DED6-4139-B0E1-DA0B2929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47875"/>
            <a:ext cx="3295650" cy="3381375"/>
          </a:xfrm>
          <a:prstGeom xmlns:a="http://schemas.openxmlformats.org/drawingml/2006/main" prst="roundRect">
            <a:avLst>
              <a:gd name="adj" fmla="val 52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672D3A-3A40-41A0-9D71-A5151654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47875"/>
            <a:ext cx="3295650" cy="504825"/>
          </a:xfrm>
          <a:prstGeom xmlns:a="http://schemas.openxmlformats.org/drawingml/2006/main" prst="roundRect">
            <a:avLst>
              <a:gd name="adj" fmla="val 33962"/>
            </a:avLst>
          </a:prstGeom>
          <a:solidFill xmlns:a="http://schemas.openxmlformats.org/drawingml/2006/main">
            <a:srgbClr val="3877F0"/>
          </a:solidFill>
          <a:ln xmlns:a="http://schemas.openxmlformats.org/drawingml/2006/main" w="9525">
            <a:solidFill>
              <a:srgbClr val="3877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E1894C-40D0-4883-ACB6-4202842E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098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GOVERN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FBA79C-69A2-4DF4-BC9D-2D2F8770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38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77F0"/>
          </a:solidFill>
          <a:ln xmlns:a="http://schemas.openxmlformats.org/drawingml/2006/main" w="0">
            <a:solidFill>
              <a:srgbClr val="3877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703CA7-FD9E-4B1C-B1BD-BDBD33B8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62250"/>
            <a:ext cx="2609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9A77DA-9543-4476-9897-8348770D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81325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4"/>
                </a:solidFill>
              </a:defRPr>
            </a:pPr>
            <a:r>
              <a:rPr sz="1050" b="0">
                <a:solidFill>
                  <a:srgbClr val="526174"/>
                </a:solidFill>
              </a:rPr>
              <a:t>Immutable raw events and decision audit trail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5DFFD7-01CF-45C2-8B11-2879C876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29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77F0"/>
          </a:solidFill>
          <a:ln xmlns:a="http://schemas.openxmlformats.org/drawingml/2006/main" w="0">
            <a:solidFill>
              <a:srgbClr val="3877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966F0B-36B3-42C9-A73F-0DEDAF08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52800"/>
            <a:ext cx="2609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75DCB0-9701-4CC1-9035-3942F32F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571875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4"/>
                </a:solidFill>
              </a:defRPr>
            </a:pPr>
            <a:r>
              <a:rPr sz="1050" b="0">
                <a:solidFill>
                  <a:srgbClr val="526174"/>
                </a:solidFill>
              </a:rPr>
              <a:t>Least-privilege IAM + private networking + KMS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72F422-C09E-4869-BE9D-75D45C93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19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77F0"/>
          </a:solidFill>
          <a:ln xmlns:a="http://schemas.openxmlformats.org/drawingml/2006/main" w="0">
            <a:solidFill>
              <a:srgbClr val="3877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8D69DA-2C37-4FE4-A54B-7EFB583D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943350"/>
            <a:ext cx="2609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BD1495-6F5F-46F0-BBF6-701A9765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162425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4"/>
                </a:solidFill>
              </a:defRPr>
            </a:pPr>
            <a:r>
              <a:rPr sz="1050" b="0">
                <a:solidFill>
                  <a:srgbClr val="526174"/>
                </a:solidFill>
              </a:rPr>
              <a:t>Grounded, versioned LLM narratives only after deterministic signals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410C2E-E724-4365-8DB5-AF825842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10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77F0"/>
          </a:solidFill>
          <a:ln xmlns:a="http://schemas.openxmlformats.org/drawingml/2006/main" w="0">
            <a:solidFill>
              <a:srgbClr val="3877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A7F153-462F-4964-A91B-B6C28580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533900"/>
            <a:ext cx="2609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0DF5BF-2A98-4C9E-9AF6-DAB0C606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752975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4"/>
                </a:solidFill>
              </a:defRPr>
            </a:pPr>
            <a:r>
              <a:rPr sz="1050" b="0">
                <a:solidFill>
                  <a:srgbClr val="526174"/>
                </a:solidFill>
              </a:rPr>
              <a:t>Human approval before actioning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570B3A7-3A0E-4A6A-8DBE-1C5A434C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47875"/>
            <a:ext cx="3295650" cy="3381375"/>
          </a:xfrm>
          <a:prstGeom xmlns:a="http://schemas.openxmlformats.org/drawingml/2006/main" prst="roundRect">
            <a:avLst>
              <a:gd name="adj" fmla="val 52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465F64-17FA-48A6-887E-FF47BF9F0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47875"/>
            <a:ext cx="3295650" cy="504825"/>
          </a:xfrm>
          <a:prstGeom xmlns:a="http://schemas.openxmlformats.org/drawingml/2006/main" prst="roundRect">
            <a:avLst>
              <a:gd name="adj" fmla="val 33962"/>
            </a:avLst>
          </a:prstGeom>
          <a:solidFill xmlns:a="http://schemas.openxmlformats.org/drawingml/2006/main">
            <a:srgbClr val="EF5B5B"/>
          </a:solidFill>
          <a:ln xmlns:a="http://schemas.openxmlformats.org/drawingml/2006/main" w="9525">
            <a:solidFill>
              <a:srgbClr val="EF5B5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A12A85B-C081-433A-95EE-173BF6DD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098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OPERATE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F41831A-D99C-4FD8-9B6B-5E878F0C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38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5B5B"/>
          </a:solidFill>
          <a:ln xmlns:a="http://schemas.openxmlformats.org/drawingml/2006/main" w="0">
            <a:solidFill>
              <a:srgbClr val="EF5B5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04A405-CBB0-44FB-A133-7FAF5965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62250"/>
            <a:ext cx="2609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704BECF-3ED8-4CEE-A312-33675A51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81325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4"/>
                </a:solidFill>
              </a:defRPr>
            </a:pPr>
            <a:r>
              <a:rPr sz="1050" b="0">
                <a:solidFill>
                  <a:srgbClr val="526174"/>
                </a:solidFill>
              </a:rPr>
              <a:t>Central logging, monitoring and tracing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9A45334-59D6-4EC4-AAAC-7FDF58B8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29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5B5B"/>
          </a:solidFill>
          <a:ln xmlns:a="http://schemas.openxmlformats.org/drawingml/2006/main" w="0">
            <a:solidFill>
              <a:srgbClr val="EF5B5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579BCAC-44C2-4D8F-9532-581AAC65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52800"/>
            <a:ext cx="2609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6094A27-BC55-4A3D-A96D-8C092B08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71875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4"/>
                </a:solidFill>
              </a:defRPr>
            </a:pPr>
            <a:r>
              <a:rPr sz="1050" b="0">
                <a:solidFill>
                  <a:srgbClr val="526174"/>
                </a:solidFill>
              </a:rPr>
              <a:t>Stage-level SLOs and regional failover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67AC39F-3268-4DB8-8970-A0E095DB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19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5B5B"/>
          </a:solidFill>
          <a:ln xmlns:a="http://schemas.openxmlformats.org/drawingml/2006/main" w="0">
            <a:solidFill>
              <a:srgbClr val="EF5B5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40E9CAD-F8A4-4B37-BCEB-3444748B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43350"/>
            <a:ext cx="2609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5E6D022-CFBC-4737-BEDB-5F6E5C5F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62425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4"/>
                </a:solidFill>
              </a:defRPr>
            </a:pPr>
            <a:r>
              <a:rPr sz="1050" b="0">
                <a:solidFill>
                  <a:srgbClr val="526174"/>
                </a:solidFill>
              </a:rPr>
              <a:t>API gateway + Redis cache for investigation reads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6AC5899-7AC0-4FD9-A02D-3D2D65AE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10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5B5B"/>
          </a:solidFill>
          <a:ln xmlns:a="http://schemas.openxmlformats.org/drawingml/2006/main" w="0">
            <a:solidFill>
              <a:srgbClr val="EF5B5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365F86C-E231-4A97-AFBF-0FC289F5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33900"/>
            <a:ext cx="2609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CBDAA36-0F2F-4316-BAFD-CEC87C5E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52975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4"/>
                </a:solidFill>
              </a:defRPr>
            </a:pPr>
            <a:r>
              <a:rPr sz="1050" b="0">
                <a:solidFill>
                  <a:srgbClr val="526174"/>
                </a:solidFill>
              </a:rPr>
              <a:t>Shadow mode → assisted recommendations → controlled actioning</a:t>
            </a:r>
          </a:p>
        </p:txBody>
      </p:sp>
    </p:spTree>
    <p:extLst>
      <p:ext uri="{BB962C8B-B14F-4D97-AF65-F5344CB8AC3E}">
        <p14:creationId xmlns:p14="http://schemas.microsoft.com/office/powerpoint/2010/main" val="418907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F2A9F5-E326-4358-96A1-AD71BB27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B486"/>
                </a:solidFill>
              </a:defRPr>
            </a:pPr>
            <a:r>
              <a:rPr sz="900" b="1">
                <a:solidFill>
                  <a:srgbClr val="20B486"/>
                </a:solidFill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9CF053-3482-4A3A-A505-11D8FD89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1830"/>
                </a:solidFill>
              </a:defRPr>
            </a:pPr>
            <a:r>
              <a:rPr sz="2475" b="1">
                <a:solidFill>
                  <a:srgbClr val="0B1830"/>
                </a:solidFill>
              </a:rPr>
              <a:t>Argus AML makes green-finance compliance more precise - and more defensible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C68837-B811-404A-B5DD-47AD3A5D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74"/>
                </a:solidFill>
              </a:defRPr>
            </a:pPr>
            <a:r>
              <a:rPr sz="1200" b="0">
                <a:solidFill>
                  <a:srgbClr val="526174"/>
                </a:solidFill>
              </a:rPr>
              <a:t>Network intelligence converts AML complexity into a transparent investigator decision.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143B63-686D-411D-89A7-E2290864A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98B794-B5ED-4F32-B33C-46C32BD1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26174"/>
                </a:solidFill>
              </a:defRPr>
            </a:pPr>
            <a:r>
              <a:rPr sz="750" b="1">
                <a:solidFill>
                  <a:srgbClr val="526174"/>
                </a:solidFill>
              </a:rPr>
              <a:t>ARGUS AML  |  GREEN FINANCING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1883D0-7DE9-453D-9A99-A65A2098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24625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174"/>
                </a:solidFill>
              </a:defRPr>
            </a:pPr>
            <a:r>
              <a:rPr sz="825" b="0">
                <a:solidFill>
                  <a:srgbClr val="526174"/>
                </a:solidFill>
              </a:rPr>
              <a:t>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7E080F-7EF9-4E2F-9994-67821333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6858000" cy="29718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071B33"/>
          </a:solidFill>
          <a:ln xmlns:a="http://schemas.openxmlformats.org/drawingml/2006/main" w="9525">
            <a:solidFill>
              <a:srgbClr val="071B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226C15-8BD9-47F0-90EC-40A00A06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90775"/>
            <a:ext cx="1285875" cy="276225"/>
          </a:xfrm>
          <a:prstGeom xmlns:a="http://schemas.openxmlformats.org/drawingml/2006/main" prst="roundRect">
            <a:avLst>
              <a:gd name="adj" fmla="val 48276"/>
            </a:avLst>
          </a:prstGeom>
          <a:solidFill xmlns:a="http://schemas.openxmlformats.org/drawingml/2006/main">
            <a:srgbClr val="133255"/>
          </a:solidFill>
          <a:ln xmlns:a="http://schemas.openxmlformats.org/drawingml/2006/main" w="9525">
            <a:solidFill>
              <a:srgbClr val="1332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D4A333-6CEC-4F2E-AB49-229EB307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457450"/>
            <a:ext cx="11144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B9F227"/>
                </a:solidFill>
              </a:defRPr>
            </a:pPr>
            <a:r>
              <a:rPr sz="825" b="1">
                <a:solidFill>
                  <a:srgbClr val="B9F227"/>
                </a:solidFill>
              </a:rPr>
              <a:t>THE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334202-092B-4C32-AAB9-2FA90106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86075"/>
            <a:ext cx="571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</a:defRPr>
            </a:pPr>
            <a:r>
              <a:rPr sz="2475" b="1">
                <a:solidFill>
                  <a:srgbClr val="FFFFFF"/>
                </a:solidFill>
              </a:rPr>
              <a:t>See beyond the</a:t>
            </a:r>
          </a:p>
          <a:p xmlns:a="http://schemas.openxmlformats.org/drawingml/2006/main">
            <a:pPr algn="l">
              <a:defRPr sz="2475" b="1">
                <a:solidFill>
                  <a:srgbClr val="FFFFFF"/>
                </a:solidFill>
              </a:defRPr>
            </a:pPr>
            <a:r>
              <a:rPr sz="2475" b="1">
                <a:solidFill>
                  <a:srgbClr val="FFFFFF"/>
                </a:solidFill>
              </a:rPr>
              <a:t>immediate counterparty.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B09935-0169-4DD5-A36D-F1A89F17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14775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3F4"/>
                </a:solidFill>
              </a:defRPr>
            </a:pPr>
            <a:r>
              <a:rPr sz="1275" b="0">
                <a:solidFill>
                  <a:srgbClr val="D7E3F4"/>
                </a:solidFill>
              </a:rPr>
              <a:t>Detect layering, round-tripping and hidden affiliations</a:t>
            </a:r>
          </a:p>
          <a:p xmlns:a="http://schemas.openxmlformats.org/drawingml/2006/main">
            <a:pPr algn="l">
              <a:defRPr sz="1275" b="0">
                <a:solidFill>
                  <a:srgbClr val="D7E3F4"/>
                </a:solidFill>
              </a:defRPr>
            </a:pPr>
            <a:r>
              <a:rPr sz="1275" b="0">
                <a:solidFill>
                  <a:srgbClr val="D7E3F4"/>
                </a:solidFill>
              </a:rPr>
              <a:t>with evidence an investigator can explain to a regulator.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DA92B2-210B-4734-9449-040083AE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33600"/>
            <a:ext cx="337185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19E95E-2B4A-4A5F-8A4B-F445F555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95525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B486"/>
                </a:solidFill>
              </a:defRPr>
            </a:pPr>
            <a:r>
              <a:rPr sz="1275" b="1">
                <a:solidFill>
                  <a:srgbClr val="20B486"/>
                </a:solidFill>
              </a:rPr>
              <a:t>Detect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81A819-DC0E-4772-A84A-70F1192C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050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830"/>
                </a:solidFill>
              </a:defRPr>
            </a:pPr>
            <a:r>
              <a:rPr sz="1125" b="1">
                <a:solidFill>
                  <a:srgbClr val="0B1830"/>
                </a:solidFill>
              </a:rPr>
              <a:t>2-hop diversion paths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D3B68E-F086-4EBE-A003-FF5A26E0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05150"/>
            <a:ext cx="337185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79758C-D4AB-44B5-9E84-E57DEB8E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67075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877F0"/>
                </a:solidFill>
              </a:defRPr>
            </a:pPr>
            <a:r>
              <a:rPr sz="1275" b="1">
                <a:solidFill>
                  <a:srgbClr val="3877F0"/>
                </a:solidFill>
              </a:rPr>
              <a:t>Explain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3AAD32-A880-4857-89FF-714494B5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766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830"/>
                </a:solidFill>
              </a:defRPr>
            </a:pPr>
            <a:r>
              <a:rPr sz="1125" b="1">
                <a:solidFill>
                  <a:srgbClr val="0B1830"/>
                </a:solidFill>
              </a:rPr>
              <a:t>Every score component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0E83AB-2E08-467C-8405-75C6FBDF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76700"/>
            <a:ext cx="337185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2DD995-4D9B-4D46-9F1F-E377902F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38625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F5B5B"/>
                </a:solidFill>
              </a:defRPr>
            </a:pPr>
            <a:r>
              <a:rPr sz="1275" b="1">
                <a:solidFill>
                  <a:srgbClr val="EF5B5B"/>
                </a:solidFill>
              </a:rPr>
              <a:t>Decide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24B1C3-EEC2-47A6-9210-A83ACB7D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2481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830"/>
                </a:solidFill>
              </a:defRPr>
            </a:pPr>
            <a:r>
              <a:rPr sz="1125" b="1">
                <a:solidFill>
                  <a:srgbClr val="0B1830"/>
                </a:solidFill>
              </a:rPr>
              <a:t>Human-reviewed action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95C583-027E-4FAE-B1FD-74D15CE5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830"/>
                </a:solidFill>
              </a:defRPr>
            </a:pPr>
            <a:r>
              <a:rPr sz="2175" b="1">
                <a:solidFill>
                  <a:srgbClr val="0B1830"/>
                </a:solidFill>
              </a:rPr>
              <a:t>Thank you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7BA086-81BB-4BB0-95D8-D5ACA16D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B486"/>
                </a:solidFill>
              </a:defRPr>
            </a:pPr>
            <a:r>
              <a:rPr sz="1500" b="1">
                <a:solidFill>
                  <a:srgbClr val="20B486"/>
                </a:solidFill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1496144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2026-07-14T17:40:07.3360000Z</dcterms:created>
  <dcterms:modified xsi:type="dcterms:W3CDTF">2026-07-14T17:40:07.3360000Z</dcterms:modified>
</coreProperties>
</file>